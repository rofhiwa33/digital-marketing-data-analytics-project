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  <p:sldMasterId id="2147483696" r:id="rId3"/>
  </p:sldMasterIdLst>
  <p:notesMasterIdLst>
    <p:notesMasterId r:id="rId19"/>
  </p:notesMasterIdLst>
  <p:sldIdLst>
    <p:sldId id="321" r:id="rId4"/>
    <p:sldId id="298" r:id="rId5"/>
    <p:sldId id="307" r:id="rId6"/>
    <p:sldId id="318" r:id="rId7"/>
    <p:sldId id="308" r:id="rId8"/>
    <p:sldId id="317" r:id="rId9"/>
    <p:sldId id="330" r:id="rId10"/>
    <p:sldId id="329" r:id="rId11"/>
    <p:sldId id="328" r:id="rId12"/>
    <p:sldId id="331" r:id="rId13"/>
    <p:sldId id="332" r:id="rId14"/>
    <p:sldId id="322" r:id="rId15"/>
    <p:sldId id="323" r:id="rId16"/>
    <p:sldId id="325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ve Burnstone" initials="SB [2]" lastIdx="28" clrIdx="0">
    <p:extLst>
      <p:ext uri="{19B8F6BF-5375-455C-9EA6-DF929625EA0E}">
        <p15:presenceInfo xmlns:p15="http://schemas.microsoft.com/office/powerpoint/2012/main" userId="S::steve.burnstone@eighty20sa.onmicrosoft.com::bc3c7d72-daad-4a11-8acc-f0d2324671b6" providerId="AD"/>
      </p:ext>
    </p:extLst>
  </p:cmAuthor>
  <p:cmAuthor id="2" name="Graham Offord" initials="GO [2]" lastIdx="11" clrIdx="1">
    <p:extLst>
      <p:ext uri="{19B8F6BF-5375-455C-9EA6-DF929625EA0E}">
        <p15:presenceInfo xmlns:p15="http://schemas.microsoft.com/office/powerpoint/2012/main" userId="S::graham.offord@eighty20sa.onmicrosoft.com::e6ec758e-5cbb-411f-a9ae-91a189bb8df9" providerId="AD"/>
      </p:ext>
    </p:extLst>
  </p:cmAuthor>
  <p:cmAuthor id="3" name="Windows User" initials="WU" lastIdx="8" clrIdx="2">
    <p:extLst>
      <p:ext uri="{19B8F6BF-5375-455C-9EA6-DF929625EA0E}">
        <p15:presenceInfo xmlns:p15="http://schemas.microsoft.com/office/powerpoint/2012/main" userId="Windows User" providerId="None"/>
      </p:ext>
    </p:extLst>
  </p:cmAuthor>
  <p:cmAuthor id="4" name="Julia Keddie" initials="JK" lastIdx="16" clrIdx="3">
    <p:extLst>
      <p:ext uri="{19B8F6BF-5375-455C-9EA6-DF929625EA0E}">
        <p15:presenceInfo xmlns:p15="http://schemas.microsoft.com/office/powerpoint/2012/main" userId="Julia Keddie" providerId="None"/>
      </p:ext>
    </p:extLst>
  </p:cmAuthor>
  <p:cmAuthor id="5" name="Rechelle Jacobs" initials="RJ" lastIdx="33" clrIdx="4">
    <p:extLst>
      <p:ext uri="{19B8F6BF-5375-455C-9EA6-DF929625EA0E}">
        <p15:presenceInfo xmlns:p15="http://schemas.microsoft.com/office/powerpoint/2012/main" userId="S-1-5-21-137199350-73162818-2529219991-709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2990"/>
    <a:srgbClr val="3333CC"/>
    <a:srgbClr val="15247D"/>
    <a:srgbClr val="7F6DC3"/>
    <a:srgbClr val="CC99FF"/>
    <a:srgbClr val="142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5" dt="2024-09-18T16:26:45.581" idx="1">
    <p:pos x="8498" y="2990"/>
    <p:text>Presentation date and course code/name is missing</p:text>
    <p:extLst>
      <p:ext uri="{C676402C-5697-4E1C-873F-D02D1690AC5C}">
        <p15:threadingInfo xmlns:p15="http://schemas.microsoft.com/office/powerpoint/2012/main" timeZoneBias="-120"/>
      </p:ext>
    </p:extLst>
  </p:cm>
</p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457607" TargetMode="External"/><Relationship Id="rId2" Type="http://schemas.openxmlformats.org/officeDocument/2006/relationships/hyperlink" Target="https://doi.org/10.1145/3320326.3320389" TargetMode="External"/><Relationship Id="rId1" Type="http://schemas.openxmlformats.org/officeDocument/2006/relationships/hyperlink" Target="https://doi.org/10.1016/j.dss.2014.03.001" TargetMode="Externa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457607" TargetMode="External"/><Relationship Id="rId2" Type="http://schemas.openxmlformats.org/officeDocument/2006/relationships/hyperlink" Target="https://doi.org/10.1145/3320326.3320389" TargetMode="External"/><Relationship Id="rId1" Type="http://schemas.openxmlformats.org/officeDocument/2006/relationships/hyperlink" Target="https://doi.org/10.1016/j.dss.2014.03.001" TargetMode="External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7537E8-A55E-4F87-B454-B3423CFDD362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4B35EF-8D31-4332-88AA-B566367B34AC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sz="2400" b="0" dirty="0"/>
            <a:t>Review literature on statistical learning in telemarketing.</a:t>
          </a:r>
        </a:p>
        <a:p>
          <a:pPr algn="l">
            <a:lnSpc>
              <a:spcPct val="100000"/>
            </a:lnSpc>
            <a:defRPr b="1"/>
          </a:pPr>
          <a:endParaRPr lang="en-US" sz="2400" b="0" dirty="0"/>
        </a:p>
      </dgm:t>
    </dgm:pt>
    <dgm:pt modelId="{5FF77137-CBE7-4C36-AA57-A33D7B29EE40}" type="parTrans" cxnId="{B3D037DC-F532-4FFC-9328-D1F35746720E}">
      <dgm:prSet/>
      <dgm:spPr/>
      <dgm:t>
        <a:bodyPr/>
        <a:lstStyle/>
        <a:p>
          <a:endParaRPr lang="en-US"/>
        </a:p>
      </dgm:t>
    </dgm:pt>
    <dgm:pt modelId="{E867295F-58C3-46DA-9226-7853344F9E9E}" type="sibTrans" cxnId="{B3D037DC-F532-4FFC-9328-D1F35746720E}">
      <dgm:prSet/>
      <dgm:spPr/>
      <dgm:t>
        <a:bodyPr/>
        <a:lstStyle/>
        <a:p>
          <a:endParaRPr lang="en-US"/>
        </a:p>
      </dgm:t>
    </dgm:pt>
    <dgm:pt modelId="{FD21F272-532D-4C0F-83AC-9616A607F287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sz="2400" b="0" dirty="0"/>
            <a:t>Develop two models: </a:t>
          </a:r>
          <a:r>
            <a:rPr lang="en-GB" sz="2400" dirty="0"/>
            <a:t>Logistic Regression and Decision Tree.</a:t>
          </a:r>
          <a:endParaRPr lang="en-US" sz="2400" b="0" dirty="0"/>
        </a:p>
      </dgm:t>
    </dgm:pt>
    <dgm:pt modelId="{34BF828A-DF44-4338-B38E-49B6FF515F1E}" type="parTrans" cxnId="{16A8E9A1-0DC5-4908-A4B8-CC4E5F0E7DAA}">
      <dgm:prSet/>
      <dgm:spPr/>
      <dgm:t>
        <a:bodyPr/>
        <a:lstStyle/>
        <a:p>
          <a:endParaRPr lang="en-US"/>
        </a:p>
      </dgm:t>
    </dgm:pt>
    <dgm:pt modelId="{D3FDE6E8-164F-4698-A642-E5463A506B23}" type="sibTrans" cxnId="{16A8E9A1-0DC5-4908-A4B8-CC4E5F0E7DAA}">
      <dgm:prSet/>
      <dgm:spPr/>
      <dgm:t>
        <a:bodyPr/>
        <a:lstStyle/>
        <a:p>
          <a:endParaRPr lang="en-US"/>
        </a:p>
      </dgm:t>
    </dgm:pt>
    <dgm:pt modelId="{34FB7A26-5F33-4AEF-89E1-7191897BA613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2400" dirty="0"/>
        </a:p>
      </dgm:t>
    </dgm:pt>
    <dgm:pt modelId="{CEC654B4-596B-471E-9557-D5A155B57DA5}" type="parTrans" cxnId="{508DC700-117D-4275-A3AB-CDE68F075F38}">
      <dgm:prSet/>
      <dgm:spPr/>
      <dgm:t>
        <a:bodyPr/>
        <a:lstStyle/>
        <a:p>
          <a:endParaRPr lang="en-US"/>
        </a:p>
      </dgm:t>
    </dgm:pt>
    <dgm:pt modelId="{112B7534-C041-4DED-BF36-DE3F6EB7692B}" type="sibTrans" cxnId="{508DC700-117D-4275-A3AB-CDE68F075F38}">
      <dgm:prSet/>
      <dgm:spPr/>
      <dgm:t>
        <a:bodyPr/>
        <a:lstStyle/>
        <a:p>
          <a:endParaRPr lang="en-US"/>
        </a:p>
      </dgm:t>
    </dgm:pt>
    <dgm:pt modelId="{A146ABDB-D1AB-42E7-A4D3-EB4164DFFF9A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sz="2400" b="0" dirty="0"/>
            <a:t>Model Performance evaluation using metrics like: Accuracy, Precision and Recall.</a:t>
          </a:r>
          <a:endParaRPr lang="en-US" sz="2400" b="0" dirty="0"/>
        </a:p>
      </dgm:t>
    </dgm:pt>
    <dgm:pt modelId="{45DAB791-BDD2-4002-B90A-C4B2E9FBD76C}" type="parTrans" cxnId="{4A3E8B32-0C2F-4223-A768-A4274121B218}">
      <dgm:prSet/>
      <dgm:spPr/>
      <dgm:t>
        <a:bodyPr/>
        <a:lstStyle/>
        <a:p>
          <a:endParaRPr lang="en-US"/>
        </a:p>
      </dgm:t>
    </dgm:pt>
    <dgm:pt modelId="{7B57C58E-E951-44EA-9DE2-A0D75E5E7E63}" type="sibTrans" cxnId="{4A3E8B32-0C2F-4223-A768-A4274121B218}">
      <dgm:prSet/>
      <dgm:spPr/>
      <dgm:t>
        <a:bodyPr/>
        <a:lstStyle/>
        <a:p>
          <a:endParaRPr lang="en-US"/>
        </a:p>
      </dgm:t>
    </dgm:pt>
    <dgm:pt modelId="{FD44FE20-09DA-493B-96EA-799E31E98229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sz="2400" b="0" dirty="0"/>
            <a:t>Deliver a comprehensive report, recommendations, and give meaningful insights.</a:t>
          </a:r>
          <a:endParaRPr lang="en-US" sz="2400" b="0" dirty="0"/>
        </a:p>
      </dgm:t>
    </dgm:pt>
    <dgm:pt modelId="{1ACEE7EF-F70A-460D-A6EC-C7A353FF9936}" type="parTrans" cxnId="{4F4581FF-E49B-4CCC-A48A-83A08287639B}">
      <dgm:prSet/>
      <dgm:spPr/>
      <dgm:t>
        <a:bodyPr/>
        <a:lstStyle/>
        <a:p>
          <a:endParaRPr lang="en-US"/>
        </a:p>
      </dgm:t>
    </dgm:pt>
    <dgm:pt modelId="{55DF24EE-AD4D-4BC6-B8CC-3C5241276C63}" type="sibTrans" cxnId="{4F4581FF-E49B-4CCC-A48A-83A08287639B}">
      <dgm:prSet/>
      <dgm:spPr/>
      <dgm:t>
        <a:bodyPr/>
        <a:lstStyle/>
        <a:p>
          <a:endParaRPr lang="en-US"/>
        </a:p>
      </dgm:t>
    </dgm:pt>
    <dgm:pt modelId="{E52D9DCF-E2AE-4D04-9D8B-F43D541ACC37}" type="pres">
      <dgm:prSet presAssocID="{737537E8-A55E-4F87-B454-B3423CFDD362}" presName="root" presStyleCnt="0">
        <dgm:presLayoutVars>
          <dgm:dir/>
          <dgm:resizeHandles val="exact"/>
        </dgm:presLayoutVars>
      </dgm:prSet>
      <dgm:spPr/>
    </dgm:pt>
    <dgm:pt modelId="{4627F4F4-1552-4E24-95C6-F78AA5ECE19F}" type="pres">
      <dgm:prSet presAssocID="{254B35EF-8D31-4332-88AA-B566367B34AC}" presName="compNode" presStyleCnt="0"/>
      <dgm:spPr/>
    </dgm:pt>
    <dgm:pt modelId="{F02F3D43-4A20-4ED1-9025-362CE1200CE7}" type="pres">
      <dgm:prSet presAssocID="{254B35EF-8D31-4332-88AA-B566367B34AC}" presName="iconRect" presStyleLbl="node1" presStyleIdx="0" presStyleCnt="4" custScaleX="250663" custScaleY="224457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854F970E-80DA-4B27-A8ED-9392CF4C9C2D}" type="pres">
      <dgm:prSet presAssocID="{254B35EF-8D31-4332-88AA-B566367B34AC}" presName="iconSpace" presStyleCnt="0"/>
      <dgm:spPr/>
    </dgm:pt>
    <dgm:pt modelId="{59E48685-5BA2-4FC8-AE0C-2B579A085ED6}" type="pres">
      <dgm:prSet presAssocID="{254B35EF-8D31-4332-88AA-B566367B34AC}" presName="parTx" presStyleLbl="revTx" presStyleIdx="0" presStyleCnt="8" custScaleX="123393" custLinFactNeighborX="-22451" custLinFactNeighborY="15394">
        <dgm:presLayoutVars>
          <dgm:chMax val="0"/>
          <dgm:chPref val="0"/>
        </dgm:presLayoutVars>
      </dgm:prSet>
      <dgm:spPr/>
    </dgm:pt>
    <dgm:pt modelId="{0101DF23-B9D7-440C-AD02-BEF193C0A49E}" type="pres">
      <dgm:prSet presAssocID="{254B35EF-8D31-4332-88AA-B566367B34AC}" presName="txSpace" presStyleCnt="0"/>
      <dgm:spPr/>
    </dgm:pt>
    <dgm:pt modelId="{47C45C3D-3735-4043-B182-2BFEF610B546}" type="pres">
      <dgm:prSet presAssocID="{254B35EF-8D31-4332-88AA-B566367B34AC}" presName="desTx" presStyleLbl="revTx" presStyleIdx="1" presStyleCnt="8">
        <dgm:presLayoutVars/>
      </dgm:prSet>
      <dgm:spPr/>
    </dgm:pt>
    <dgm:pt modelId="{1570ED3D-A0CB-467A-AADD-E8E63E53B8FD}" type="pres">
      <dgm:prSet presAssocID="{E867295F-58C3-46DA-9226-7853344F9E9E}" presName="sibTrans" presStyleCnt="0"/>
      <dgm:spPr/>
    </dgm:pt>
    <dgm:pt modelId="{8070288B-8AE3-4B81-A06C-F9237CC40FE1}" type="pres">
      <dgm:prSet presAssocID="{FD21F272-532D-4C0F-83AC-9616A607F287}" presName="compNode" presStyleCnt="0"/>
      <dgm:spPr/>
    </dgm:pt>
    <dgm:pt modelId="{0A97B5A1-22F6-445E-A645-677BC59E4B59}" type="pres">
      <dgm:prSet presAssocID="{FD21F272-532D-4C0F-83AC-9616A607F287}" presName="iconRect" presStyleLbl="node1" presStyleIdx="1" presStyleCnt="4" custScaleX="301640" custScaleY="22433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9AEF28E0-4B11-4460-99AE-F006958E1CF3}" type="pres">
      <dgm:prSet presAssocID="{FD21F272-532D-4C0F-83AC-9616A607F287}" presName="iconSpace" presStyleCnt="0"/>
      <dgm:spPr/>
    </dgm:pt>
    <dgm:pt modelId="{03DBC649-F413-4E9B-A5E5-D85CBFAE7E38}" type="pres">
      <dgm:prSet presAssocID="{FD21F272-532D-4C0F-83AC-9616A607F287}" presName="parTx" presStyleLbl="revTx" presStyleIdx="2" presStyleCnt="8" custScaleX="184882" custLinFactNeighborX="-4834" custLinFactNeighborY="19210">
        <dgm:presLayoutVars>
          <dgm:chMax val="0"/>
          <dgm:chPref val="0"/>
        </dgm:presLayoutVars>
      </dgm:prSet>
      <dgm:spPr/>
    </dgm:pt>
    <dgm:pt modelId="{7A6227FA-744B-4339-A09D-A76D25B2D4E3}" type="pres">
      <dgm:prSet presAssocID="{FD21F272-532D-4C0F-83AC-9616A607F287}" presName="txSpace" presStyleCnt="0"/>
      <dgm:spPr/>
    </dgm:pt>
    <dgm:pt modelId="{3C08AB83-E018-41A2-9889-5AB8AD786E45}" type="pres">
      <dgm:prSet presAssocID="{FD21F272-532D-4C0F-83AC-9616A607F287}" presName="desTx" presStyleLbl="revTx" presStyleIdx="3" presStyleCnt="8" custLinFactY="-400000" custLinFactNeighborX="-22219" custLinFactNeighborY="-413962">
        <dgm:presLayoutVars/>
      </dgm:prSet>
      <dgm:spPr/>
    </dgm:pt>
    <dgm:pt modelId="{2889E6FC-0A6E-4A3E-A168-9E69BF3082AB}" type="pres">
      <dgm:prSet presAssocID="{D3FDE6E8-164F-4698-A642-E5463A506B23}" presName="sibTrans" presStyleCnt="0"/>
      <dgm:spPr/>
    </dgm:pt>
    <dgm:pt modelId="{4A224FD4-927D-4F8F-B79E-029C71CB1DFD}" type="pres">
      <dgm:prSet presAssocID="{A146ABDB-D1AB-42E7-A4D3-EB4164DFFF9A}" presName="compNode" presStyleCnt="0"/>
      <dgm:spPr/>
    </dgm:pt>
    <dgm:pt modelId="{622AF995-04C7-48F9-B17B-4132C015B647}" type="pres">
      <dgm:prSet presAssocID="{A146ABDB-D1AB-42E7-A4D3-EB4164DFFF9A}" presName="iconRect" presStyleLbl="node1" presStyleIdx="2" presStyleCnt="4" custScaleX="234223" custScaleY="231774" custLinFactNeighborX="6021" custLinFactNeighborY="-3719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3A5231F6-6536-4E2B-91EF-B1742B0F49AA}" type="pres">
      <dgm:prSet presAssocID="{A146ABDB-D1AB-42E7-A4D3-EB4164DFFF9A}" presName="iconSpace" presStyleCnt="0"/>
      <dgm:spPr/>
    </dgm:pt>
    <dgm:pt modelId="{5684BB22-0272-4D19-A558-AA570511EA7C}" type="pres">
      <dgm:prSet presAssocID="{A146ABDB-D1AB-42E7-A4D3-EB4164DFFF9A}" presName="parTx" presStyleLbl="revTx" presStyleIdx="4" presStyleCnt="8" custScaleX="141210" custLinFactNeighborX="-10879" custLinFactNeighborY="19210">
        <dgm:presLayoutVars>
          <dgm:chMax val="0"/>
          <dgm:chPref val="0"/>
        </dgm:presLayoutVars>
      </dgm:prSet>
      <dgm:spPr/>
    </dgm:pt>
    <dgm:pt modelId="{BDE93EAF-798E-433A-8F51-D612B240A702}" type="pres">
      <dgm:prSet presAssocID="{A146ABDB-D1AB-42E7-A4D3-EB4164DFFF9A}" presName="txSpace" presStyleCnt="0"/>
      <dgm:spPr/>
    </dgm:pt>
    <dgm:pt modelId="{13E1442F-B185-4B0A-B320-2B077788B082}" type="pres">
      <dgm:prSet presAssocID="{A146ABDB-D1AB-42E7-A4D3-EB4164DFFF9A}" presName="desTx" presStyleLbl="revTx" presStyleIdx="5" presStyleCnt="8">
        <dgm:presLayoutVars/>
      </dgm:prSet>
      <dgm:spPr/>
    </dgm:pt>
    <dgm:pt modelId="{EA0F4539-27AC-47FB-BF7E-CB9C0C9D2281}" type="pres">
      <dgm:prSet presAssocID="{7B57C58E-E951-44EA-9DE2-A0D75E5E7E63}" presName="sibTrans" presStyleCnt="0"/>
      <dgm:spPr/>
    </dgm:pt>
    <dgm:pt modelId="{DDCAE0B4-76B4-4444-A08E-5A1786323701}" type="pres">
      <dgm:prSet presAssocID="{FD44FE20-09DA-493B-96EA-799E31E98229}" presName="compNode" presStyleCnt="0"/>
      <dgm:spPr/>
    </dgm:pt>
    <dgm:pt modelId="{C856FB00-43B6-42DD-9D82-C41387A8DCEE}" type="pres">
      <dgm:prSet presAssocID="{FD44FE20-09DA-493B-96EA-799E31E98229}" presName="iconRect" presStyleLbl="node1" presStyleIdx="3" presStyleCnt="4" custScaleX="228310" custScaleY="255184" custLinFactNeighborX="89537" custLinFactNeighborY="-12494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2918B96-E133-480F-94F3-D4328CFFEAC7}" type="pres">
      <dgm:prSet presAssocID="{FD44FE20-09DA-493B-96EA-799E31E98229}" presName="iconSpace" presStyleCnt="0"/>
      <dgm:spPr/>
    </dgm:pt>
    <dgm:pt modelId="{5B6AAEEB-DC54-4619-BE8D-03850E36AC81}" type="pres">
      <dgm:prSet presAssocID="{FD44FE20-09DA-493B-96EA-799E31E98229}" presName="parTx" presStyleLbl="revTx" presStyleIdx="6" presStyleCnt="8" custScaleX="125560" custLinFactNeighborX="9430" custLinFactNeighborY="9957">
        <dgm:presLayoutVars>
          <dgm:chMax val="0"/>
          <dgm:chPref val="0"/>
        </dgm:presLayoutVars>
      </dgm:prSet>
      <dgm:spPr/>
    </dgm:pt>
    <dgm:pt modelId="{0C106677-0C31-4BB9-B07E-34E551C32992}" type="pres">
      <dgm:prSet presAssocID="{FD44FE20-09DA-493B-96EA-799E31E98229}" presName="txSpace" presStyleCnt="0"/>
      <dgm:spPr/>
    </dgm:pt>
    <dgm:pt modelId="{223EECC8-91CC-4E5E-9107-1C12345BEA22}" type="pres">
      <dgm:prSet presAssocID="{FD44FE20-09DA-493B-96EA-799E31E98229}" presName="desTx" presStyleLbl="revTx" presStyleIdx="7" presStyleCnt="8">
        <dgm:presLayoutVars/>
      </dgm:prSet>
      <dgm:spPr/>
    </dgm:pt>
  </dgm:ptLst>
  <dgm:cxnLst>
    <dgm:cxn modelId="{508DC700-117D-4275-A3AB-CDE68F075F38}" srcId="{FD21F272-532D-4C0F-83AC-9616A607F287}" destId="{34FB7A26-5F33-4AEF-89E1-7191897BA613}" srcOrd="0" destOrd="0" parTransId="{CEC654B4-596B-471E-9557-D5A155B57DA5}" sibTransId="{112B7534-C041-4DED-BF36-DE3F6EB7692B}"/>
    <dgm:cxn modelId="{252BAE0F-1336-40E0-953F-1B3980E70F3D}" type="presOf" srcId="{34FB7A26-5F33-4AEF-89E1-7191897BA613}" destId="{3C08AB83-E018-41A2-9889-5AB8AD786E45}" srcOrd="0" destOrd="0" presId="urn:microsoft.com/office/officeart/2018/2/layout/IconLabelDescriptionList"/>
    <dgm:cxn modelId="{4A3E8B32-0C2F-4223-A768-A4274121B218}" srcId="{737537E8-A55E-4F87-B454-B3423CFDD362}" destId="{A146ABDB-D1AB-42E7-A4D3-EB4164DFFF9A}" srcOrd="2" destOrd="0" parTransId="{45DAB791-BDD2-4002-B90A-C4B2E9FBD76C}" sibTransId="{7B57C58E-E951-44EA-9DE2-A0D75E5E7E63}"/>
    <dgm:cxn modelId="{22960764-FDBE-4D32-A3B6-7EBF17514D69}" type="presOf" srcId="{254B35EF-8D31-4332-88AA-B566367B34AC}" destId="{59E48685-5BA2-4FC8-AE0C-2B579A085ED6}" srcOrd="0" destOrd="0" presId="urn:microsoft.com/office/officeart/2018/2/layout/IconLabelDescriptionList"/>
    <dgm:cxn modelId="{1F31336D-DA96-4459-9577-688BD0F224B5}" type="presOf" srcId="{FD21F272-532D-4C0F-83AC-9616A607F287}" destId="{03DBC649-F413-4E9B-A5E5-D85CBFAE7E38}" srcOrd="0" destOrd="0" presId="urn:microsoft.com/office/officeart/2018/2/layout/IconLabelDescriptionList"/>
    <dgm:cxn modelId="{ADF63156-6501-4509-9C83-ED7B959432D7}" type="presOf" srcId="{737537E8-A55E-4F87-B454-B3423CFDD362}" destId="{E52D9DCF-E2AE-4D04-9D8B-F43D541ACC37}" srcOrd="0" destOrd="0" presId="urn:microsoft.com/office/officeart/2018/2/layout/IconLabelDescriptionList"/>
    <dgm:cxn modelId="{5A10A593-5995-46EC-8E26-BE29FC1563AB}" type="presOf" srcId="{A146ABDB-D1AB-42E7-A4D3-EB4164DFFF9A}" destId="{5684BB22-0272-4D19-A558-AA570511EA7C}" srcOrd="0" destOrd="0" presId="urn:microsoft.com/office/officeart/2018/2/layout/IconLabelDescriptionList"/>
    <dgm:cxn modelId="{16A8E9A1-0DC5-4908-A4B8-CC4E5F0E7DAA}" srcId="{737537E8-A55E-4F87-B454-B3423CFDD362}" destId="{FD21F272-532D-4C0F-83AC-9616A607F287}" srcOrd="1" destOrd="0" parTransId="{34BF828A-DF44-4338-B38E-49B6FF515F1E}" sibTransId="{D3FDE6E8-164F-4698-A642-E5463A506B23}"/>
    <dgm:cxn modelId="{B3D037DC-F532-4FFC-9328-D1F35746720E}" srcId="{737537E8-A55E-4F87-B454-B3423CFDD362}" destId="{254B35EF-8D31-4332-88AA-B566367B34AC}" srcOrd="0" destOrd="0" parTransId="{5FF77137-CBE7-4C36-AA57-A33D7B29EE40}" sibTransId="{E867295F-58C3-46DA-9226-7853344F9E9E}"/>
    <dgm:cxn modelId="{29F37AE6-6ECF-45BD-BD87-A8A62333BCBC}" type="presOf" srcId="{FD44FE20-09DA-493B-96EA-799E31E98229}" destId="{5B6AAEEB-DC54-4619-BE8D-03850E36AC81}" srcOrd="0" destOrd="0" presId="urn:microsoft.com/office/officeart/2018/2/layout/IconLabelDescriptionList"/>
    <dgm:cxn modelId="{4F4581FF-E49B-4CCC-A48A-83A08287639B}" srcId="{737537E8-A55E-4F87-B454-B3423CFDD362}" destId="{FD44FE20-09DA-493B-96EA-799E31E98229}" srcOrd="3" destOrd="0" parTransId="{1ACEE7EF-F70A-460D-A6EC-C7A353FF9936}" sibTransId="{55DF24EE-AD4D-4BC6-B8CC-3C5241276C63}"/>
    <dgm:cxn modelId="{0A5CD4A5-67AB-4BFE-819D-A2475B7C996A}" type="presParOf" srcId="{E52D9DCF-E2AE-4D04-9D8B-F43D541ACC37}" destId="{4627F4F4-1552-4E24-95C6-F78AA5ECE19F}" srcOrd="0" destOrd="0" presId="urn:microsoft.com/office/officeart/2018/2/layout/IconLabelDescriptionList"/>
    <dgm:cxn modelId="{755B651A-05D3-4C2A-854E-9D68356A72FF}" type="presParOf" srcId="{4627F4F4-1552-4E24-95C6-F78AA5ECE19F}" destId="{F02F3D43-4A20-4ED1-9025-362CE1200CE7}" srcOrd="0" destOrd="0" presId="urn:microsoft.com/office/officeart/2018/2/layout/IconLabelDescriptionList"/>
    <dgm:cxn modelId="{465B2847-53C4-4791-8DA8-73454B4C4ACB}" type="presParOf" srcId="{4627F4F4-1552-4E24-95C6-F78AA5ECE19F}" destId="{854F970E-80DA-4B27-A8ED-9392CF4C9C2D}" srcOrd="1" destOrd="0" presId="urn:microsoft.com/office/officeart/2018/2/layout/IconLabelDescriptionList"/>
    <dgm:cxn modelId="{03781255-19DD-4222-BD00-D53877227E32}" type="presParOf" srcId="{4627F4F4-1552-4E24-95C6-F78AA5ECE19F}" destId="{59E48685-5BA2-4FC8-AE0C-2B579A085ED6}" srcOrd="2" destOrd="0" presId="urn:microsoft.com/office/officeart/2018/2/layout/IconLabelDescriptionList"/>
    <dgm:cxn modelId="{06C3EDC9-52C5-4CCB-B85C-94DF5217B214}" type="presParOf" srcId="{4627F4F4-1552-4E24-95C6-F78AA5ECE19F}" destId="{0101DF23-B9D7-440C-AD02-BEF193C0A49E}" srcOrd="3" destOrd="0" presId="urn:microsoft.com/office/officeart/2018/2/layout/IconLabelDescriptionList"/>
    <dgm:cxn modelId="{340F698C-4290-4BA3-8645-D898578E1F39}" type="presParOf" srcId="{4627F4F4-1552-4E24-95C6-F78AA5ECE19F}" destId="{47C45C3D-3735-4043-B182-2BFEF610B546}" srcOrd="4" destOrd="0" presId="urn:microsoft.com/office/officeart/2018/2/layout/IconLabelDescriptionList"/>
    <dgm:cxn modelId="{4FABDBEA-7995-4456-9CF2-66D593EA75D4}" type="presParOf" srcId="{E52D9DCF-E2AE-4D04-9D8B-F43D541ACC37}" destId="{1570ED3D-A0CB-467A-AADD-E8E63E53B8FD}" srcOrd="1" destOrd="0" presId="urn:microsoft.com/office/officeart/2018/2/layout/IconLabelDescriptionList"/>
    <dgm:cxn modelId="{DCCE44E6-0877-4C9F-B09F-33DD4F5D7149}" type="presParOf" srcId="{E52D9DCF-E2AE-4D04-9D8B-F43D541ACC37}" destId="{8070288B-8AE3-4B81-A06C-F9237CC40FE1}" srcOrd="2" destOrd="0" presId="urn:microsoft.com/office/officeart/2018/2/layout/IconLabelDescriptionList"/>
    <dgm:cxn modelId="{6CF125C0-7464-4EEB-BB30-48D79A80A85F}" type="presParOf" srcId="{8070288B-8AE3-4B81-A06C-F9237CC40FE1}" destId="{0A97B5A1-22F6-445E-A645-677BC59E4B59}" srcOrd="0" destOrd="0" presId="urn:microsoft.com/office/officeart/2018/2/layout/IconLabelDescriptionList"/>
    <dgm:cxn modelId="{4FBAE883-B2A1-41AA-A959-09C7A06AF819}" type="presParOf" srcId="{8070288B-8AE3-4B81-A06C-F9237CC40FE1}" destId="{9AEF28E0-4B11-4460-99AE-F006958E1CF3}" srcOrd="1" destOrd="0" presId="urn:microsoft.com/office/officeart/2018/2/layout/IconLabelDescriptionList"/>
    <dgm:cxn modelId="{606F4087-4943-4FA1-AC24-995596E4781F}" type="presParOf" srcId="{8070288B-8AE3-4B81-A06C-F9237CC40FE1}" destId="{03DBC649-F413-4E9B-A5E5-D85CBFAE7E38}" srcOrd="2" destOrd="0" presId="urn:microsoft.com/office/officeart/2018/2/layout/IconLabelDescriptionList"/>
    <dgm:cxn modelId="{55D0B9A9-B398-4C99-8AC7-7E1495A5D3F0}" type="presParOf" srcId="{8070288B-8AE3-4B81-A06C-F9237CC40FE1}" destId="{7A6227FA-744B-4339-A09D-A76D25B2D4E3}" srcOrd="3" destOrd="0" presId="urn:microsoft.com/office/officeart/2018/2/layout/IconLabelDescriptionList"/>
    <dgm:cxn modelId="{92B5AA4C-4753-42AF-B0F9-6EF2B21054EF}" type="presParOf" srcId="{8070288B-8AE3-4B81-A06C-F9237CC40FE1}" destId="{3C08AB83-E018-41A2-9889-5AB8AD786E45}" srcOrd="4" destOrd="0" presId="urn:microsoft.com/office/officeart/2018/2/layout/IconLabelDescriptionList"/>
    <dgm:cxn modelId="{502BC8AC-EAE8-4F96-A87E-555B0564F4F8}" type="presParOf" srcId="{E52D9DCF-E2AE-4D04-9D8B-F43D541ACC37}" destId="{2889E6FC-0A6E-4A3E-A168-9E69BF3082AB}" srcOrd="3" destOrd="0" presId="urn:microsoft.com/office/officeart/2018/2/layout/IconLabelDescriptionList"/>
    <dgm:cxn modelId="{AA2FDB61-A498-400C-BE65-AA96C01C994A}" type="presParOf" srcId="{E52D9DCF-E2AE-4D04-9D8B-F43D541ACC37}" destId="{4A224FD4-927D-4F8F-B79E-029C71CB1DFD}" srcOrd="4" destOrd="0" presId="urn:microsoft.com/office/officeart/2018/2/layout/IconLabelDescriptionList"/>
    <dgm:cxn modelId="{E4F95CC5-C0D4-4C02-B66D-1B7A75D54E20}" type="presParOf" srcId="{4A224FD4-927D-4F8F-B79E-029C71CB1DFD}" destId="{622AF995-04C7-48F9-B17B-4132C015B647}" srcOrd="0" destOrd="0" presId="urn:microsoft.com/office/officeart/2018/2/layout/IconLabelDescriptionList"/>
    <dgm:cxn modelId="{531EF812-3C8A-4907-8357-874323183814}" type="presParOf" srcId="{4A224FD4-927D-4F8F-B79E-029C71CB1DFD}" destId="{3A5231F6-6536-4E2B-91EF-B1742B0F49AA}" srcOrd="1" destOrd="0" presId="urn:microsoft.com/office/officeart/2018/2/layout/IconLabelDescriptionList"/>
    <dgm:cxn modelId="{36091DA4-7CC1-42B9-8EED-813A468A08E2}" type="presParOf" srcId="{4A224FD4-927D-4F8F-B79E-029C71CB1DFD}" destId="{5684BB22-0272-4D19-A558-AA570511EA7C}" srcOrd="2" destOrd="0" presId="urn:microsoft.com/office/officeart/2018/2/layout/IconLabelDescriptionList"/>
    <dgm:cxn modelId="{087D7BB9-439B-43A9-B0F3-84B7C8AE89BF}" type="presParOf" srcId="{4A224FD4-927D-4F8F-B79E-029C71CB1DFD}" destId="{BDE93EAF-798E-433A-8F51-D612B240A702}" srcOrd="3" destOrd="0" presId="urn:microsoft.com/office/officeart/2018/2/layout/IconLabelDescriptionList"/>
    <dgm:cxn modelId="{703DB301-2D06-4894-88EF-E7FC0AD64153}" type="presParOf" srcId="{4A224FD4-927D-4F8F-B79E-029C71CB1DFD}" destId="{13E1442F-B185-4B0A-B320-2B077788B082}" srcOrd="4" destOrd="0" presId="urn:microsoft.com/office/officeart/2018/2/layout/IconLabelDescriptionList"/>
    <dgm:cxn modelId="{DCC5A6E7-CD00-4111-9210-27FB1ECF31E6}" type="presParOf" srcId="{E52D9DCF-E2AE-4D04-9D8B-F43D541ACC37}" destId="{EA0F4539-27AC-47FB-BF7E-CB9C0C9D2281}" srcOrd="5" destOrd="0" presId="urn:microsoft.com/office/officeart/2018/2/layout/IconLabelDescriptionList"/>
    <dgm:cxn modelId="{2B100C90-C243-4C1F-9F56-168377B13E77}" type="presParOf" srcId="{E52D9DCF-E2AE-4D04-9D8B-F43D541ACC37}" destId="{DDCAE0B4-76B4-4444-A08E-5A1786323701}" srcOrd="6" destOrd="0" presId="urn:microsoft.com/office/officeart/2018/2/layout/IconLabelDescriptionList"/>
    <dgm:cxn modelId="{BEA3DA7F-CD29-4C1A-B6B6-932982950775}" type="presParOf" srcId="{DDCAE0B4-76B4-4444-A08E-5A1786323701}" destId="{C856FB00-43B6-42DD-9D82-C41387A8DCEE}" srcOrd="0" destOrd="0" presId="urn:microsoft.com/office/officeart/2018/2/layout/IconLabelDescriptionList"/>
    <dgm:cxn modelId="{32AF98AF-D5B6-4424-B2F4-8497EC0F46F7}" type="presParOf" srcId="{DDCAE0B4-76B4-4444-A08E-5A1786323701}" destId="{D2918B96-E133-480F-94F3-D4328CFFEAC7}" srcOrd="1" destOrd="0" presId="urn:microsoft.com/office/officeart/2018/2/layout/IconLabelDescriptionList"/>
    <dgm:cxn modelId="{F29513F4-1A44-42FA-BBD7-57CB0186FFA6}" type="presParOf" srcId="{DDCAE0B4-76B4-4444-A08E-5A1786323701}" destId="{5B6AAEEB-DC54-4619-BE8D-03850E36AC81}" srcOrd="2" destOrd="0" presId="urn:microsoft.com/office/officeart/2018/2/layout/IconLabelDescriptionList"/>
    <dgm:cxn modelId="{C5AB0F23-C799-4872-8081-8CC3E6CCD024}" type="presParOf" srcId="{DDCAE0B4-76B4-4444-A08E-5A1786323701}" destId="{0C106677-0C31-4BB9-B07E-34E551C32992}" srcOrd="3" destOrd="0" presId="urn:microsoft.com/office/officeart/2018/2/layout/IconLabelDescriptionList"/>
    <dgm:cxn modelId="{40C2BA13-1B87-4823-8D63-021BA16FE957}" type="presParOf" srcId="{DDCAE0B4-76B4-4444-A08E-5A1786323701}" destId="{223EECC8-91CC-4E5E-9107-1C12345BEA2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D0FFA9-358E-4996-84F6-67525498FFA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36CD1CC-3C4E-49AF-B71E-DEC586AB94B2}">
      <dgm:prSet phldrT="[Text]"/>
      <dgm:spPr>
        <a:solidFill>
          <a:schemeClr val="accent5">
            <a:lumMod val="20000"/>
            <a:lumOff val="80000"/>
          </a:schemeClr>
        </a:solidFill>
        <a:ln w="28575">
          <a:solidFill>
            <a:srgbClr val="182990"/>
          </a:solidFill>
        </a:ln>
      </dgm:spPr>
      <dgm:t>
        <a:bodyPr/>
        <a:lstStyle/>
        <a:p>
          <a:r>
            <a:rPr lang="en-GB" b="1" dirty="0">
              <a:solidFill>
                <a:srgbClr val="FF0000"/>
              </a:solidFill>
            </a:rPr>
            <a:t>1. </a:t>
          </a:r>
          <a:r>
            <a:rPr lang="en-GB" b="1" dirty="0">
              <a:solidFill>
                <a:schemeClr val="tx1"/>
              </a:solidFill>
            </a:rPr>
            <a:t>Business understanding</a:t>
          </a:r>
          <a:endParaRPr lang="en-ZA" dirty="0">
            <a:solidFill>
              <a:schemeClr val="tx1"/>
            </a:solidFill>
          </a:endParaRPr>
        </a:p>
      </dgm:t>
    </dgm:pt>
    <dgm:pt modelId="{A6361181-9364-4D91-849A-49D39D474F56}" type="parTrans" cxnId="{95729565-0DF3-429E-9084-58F702AED3C4}">
      <dgm:prSet/>
      <dgm:spPr/>
      <dgm:t>
        <a:bodyPr/>
        <a:lstStyle/>
        <a:p>
          <a:endParaRPr lang="en-ZA"/>
        </a:p>
      </dgm:t>
    </dgm:pt>
    <dgm:pt modelId="{C6F14077-3342-4855-9395-5226AAD55CCF}" type="sibTrans" cxnId="{95729565-0DF3-429E-9084-58F702AED3C4}">
      <dgm:prSet/>
      <dgm:spPr>
        <a:ln>
          <a:solidFill>
            <a:srgbClr val="182990"/>
          </a:solidFill>
        </a:ln>
      </dgm:spPr>
      <dgm:t>
        <a:bodyPr/>
        <a:lstStyle/>
        <a:p>
          <a:endParaRPr lang="en-ZA"/>
        </a:p>
      </dgm:t>
    </dgm:pt>
    <dgm:pt modelId="{29E84837-74C4-4A25-9B28-16C17379FB84}">
      <dgm:prSet phldrT="[Text]"/>
      <dgm:spPr>
        <a:solidFill>
          <a:schemeClr val="accent5">
            <a:lumMod val="20000"/>
            <a:lumOff val="80000"/>
          </a:schemeClr>
        </a:solidFill>
        <a:ln w="28575">
          <a:solidFill>
            <a:srgbClr val="182990"/>
          </a:solidFill>
        </a:ln>
      </dgm:spPr>
      <dgm:t>
        <a:bodyPr/>
        <a:lstStyle/>
        <a:p>
          <a:r>
            <a:rPr lang="en-GB" b="1" dirty="0">
              <a:solidFill>
                <a:srgbClr val="FF0000"/>
              </a:solidFill>
            </a:rPr>
            <a:t>2. </a:t>
          </a:r>
          <a:r>
            <a:rPr lang="en-GB" b="1" dirty="0">
              <a:solidFill>
                <a:schemeClr val="tx1"/>
              </a:solidFill>
            </a:rPr>
            <a:t>Data understanding</a:t>
          </a:r>
          <a:endParaRPr lang="en-ZA" dirty="0">
            <a:solidFill>
              <a:schemeClr val="tx1"/>
            </a:solidFill>
          </a:endParaRPr>
        </a:p>
      </dgm:t>
    </dgm:pt>
    <dgm:pt modelId="{FD6C2081-6A5F-4BA9-8D5F-20A29ADB4D28}" type="parTrans" cxnId="{A0F4D5FB-98C8-4FAF-8AB7-BF808318A3D2}">
      <dgm:prSet/>
      <dgm:spPr/>
      <dgm:t>
        <a:bodyPr/>
        <a:lstStyle/>
        <a:p>
          <a:endParaRPr lang="en-ZA"/>
        </a:p>
      </dgm:t>
    </dgm:pt>
    <dgm:pt modelId="{A57B1F28-895D-46F3-9681-070719F54BC9}" type="sibTrans" cxnId="{A0F4D5FB-98C8-4FAF-8AB7-BF808318A3D2}">
      <dgm:prSet/>
      <dgm:spPr>
        <a:ln>
          <a:solidFill>
            <a:srgbClr val="182990"/>
          </a:solidFill>
        </a:ln>
      </dgm:spPr>
      <dgm:t>
        <a:bodyPr/>
        <a:lstStyle/>
        <a:p>
          <a:endParaRPr lang="en-ZA"/>
        </a:p>
      </dgm:t>
    </dgm:pt>
    <dgm:pt modelId="{A9FF4C75-BD1E-4500-BFA0-3AC8CBFEDBC4}">
      <dgm:prSet phldrT="[Text]"/>
      <dgm:spPr>
        <a:solidFill>
          <a:schemeClr val="accent5">
            <a:lumMod val="20000"/>
            <a:lumOff val="80000"/>
          </a:schemeClr>
        </a:solidFill>
        <a:ln w="28575">
          <a:solidFill>
            <a:srgbClr val="182990"/>
          </a:solidFill>
        </a:ln>
      </dgm:spPr>
      <dgm:t>
        <a:bodyPr/>
        <a:lstStyle/>
        <a:p>
          <a:r>
            <a:rPr lang="en-GB" b="1" dirty="0">
              <a:solidFill>
                <a:srgbClr val="FF0000"/>
              </a:solidFill>
            </a:rPr>
            <a:t>3. </a:t>
          </a:r>
          <a:r>
            <a:rPr lang="en-GB" b="1" dirty="0">
              <a:solidFill>
                <a:schemeClr val="tx1"/>
              </a:solidFill>
            </a:rPr>
            <a:t>Data preparation</a:t>
          </a:r>
          <a:endParaRPr lang="en-ZA" dirty="0">
            <a:solidFill>
              <a:schemeClr val="tx1"/>
            </a:solidFill>
          </a:endParaRPr>
        </a:p>
      </dgm:t>
    </dgm:pt>
    <dgm:pt modelId="{D9EEAFAC-9CD5-4E81-86C2-A66D74A0B049}" type="parTrans" cxnId="{9B9FC647-B988-401A-8B04-7BF9531DEF85}">
      <dgm:prSet/>
      <dgm:spPr/>
      <dgm:t>
        <a:bodyPr/>
        <a:lstStyle/>
        <a:p>
          <a:endParaRPr lang="en-ZA"/>
        </a:p>
      </dgm:t>
    </dgm:pt>
    <dgm:pt modelId="{792657FA-EA58-423E-9998-099D8D7CDF22}" type="sibTrans" cxnId="{9B9FC647-B988-401A-8B04-7BF9531DEF85}">
      <dgm:prSet/>
      <dgm:spPr/>
      <dgm:t>
        <a:bodyPr/>
        <a:lstStyle/>
        <a:p>
          <a:endParaRPr lang="en-ZA"/>
        </a:p>
      </dgm:t>
    </dgm:pt>
    <dgm:pt modelId="{52CA2D89-266B-4246-9189-FD6016444407}" type="pres">
      <dgm:prSet presAssocID="{ECD0FFA9-358E-4996-84F6-67525498FFA8}" presName="Name0" presStyleCnt="0">
        <dgm:presLayoutVars>
          <dgm:dir/>
          <dgm:resizeHandles val="exact"/>
        </dgm:presLayoutVars>
      </dgm:prSet>
      <dgm:spPr/>
    </dgm:pt>
    <dgm:pt modelId="{57AAE3F9-6484-4C25-AFE9-2A5A71D57E02}" type="pres">
      <dgm:prSet presAssocID="{E36CD1CC-3C4E-49AF-B71E-DEC586AB94B2}" presName="node" presStyleLbl="node1" presStyleIdx="0" presStyleCnt="3" custLinFactNeighborX="15197">
        <dgm:presLayoutVars>
          <dgm:bulletEnabled val="1"/>
        </dgm:presLayoutVars>
      </dgm:prSet>
      <dgm:spPr/>
    </dgm:pt>
    <dgm:pt modelId="{13A3872C-9ED7-4F63-9FFB-836C153A66D0}" type="pres">
      <dgm:prSet presAssocID="{C6F14077-3342-4855-9395-5226AAD55CCF}" presName="sibTrans" presStyleLbl="sibTrans2D1" presStyleIdx="0" presStyleCnt="2"/>
      <dgm:spPr/>
    </dgm:pt>
    <dgm:pt modelId="{4E689ECA-979C-47B9-916C-55934A0DBC5A}" type="pres">
      <dgm:prSet presAssocID="{C6F14077-3342-4855-9395-5226AAD55CCF}" presName="connectorText" presStyleLbl="sibTrans2D1" presStyleIdx="0" presStyleCnt="2"/>
      <dgm:spPr/>
    </dgm:pt>
    <dgm:pt modelId="{C773AB02-2C04-4AEF-9126-7A50CA4BBDB0}" type="pres">
      <dgm:prSet presAssocID="{29E84837-74C4-4A25-9B28-16C17379FB84}" presName="node" presStyleLbl="node1" presStyleIdx="1" presStyleCnt="3">
        <dgm:presLayoutVars>
          <dgm:bulletEnabled val="1"/>
        </dgm:presLayoutVars>
      </dgm:prSet>
      <dgm:spPr/>
    </dgm:pt>
    <dgm:pt modelId="{4FFE2FB6-4F9F-4EF4-953D-9250641A1EBC}" type="pres">
      <dgm:prSet presAssocID="{A57B1F28-895D-46F3-9681-070719F54BC9}" presName="sibTrans" presStyleLbl="sibTrans2D1" presStyleIdx="1" presStyleCnt="2"/>
      <dgm:spPr/>
    </dgm:pt>
    <dgm:pt modelId="{B2D14AA6-E531-4943-B0FC-763AA0E348C8}" type="pres">
      <dgm:prSet presAssocID="{A57B1F28-895D-46F3-9681-070719F54BC9}" presName="connectorText" presStyleLbl="sibTrans2D1" presStyleIdx="1" presStyleCnt="2"/>
      <dgm:spPr/>
    </dgm:pt>
    <dgm:pt modelId="{67BEB0BC-BFAB-4AF7-947B-786D8C9C6FEF}" type="pres">
      <dgm:prSet presAssocID="{A9FF4C75-BD1E-4500-BFA0-3AC8CBFEDBC4}" presName="node" presStyleLbl="node1" presStyleIdx="2" presStyleCnt="3">
        <dgm:presLayoutVars>
          <dgm:bulletEnabled val="1"/>
        </dgm:presLayoutVars>
      </dgm:prSet>
      <dgm:spPr/>
    </dgm:pt>
  </dgm:ptLst>
  <dgm:cxnLst>
    <dgm:cxn modelId="{8E46EC2A-891F-40D9-AB4A-8EFC978375DC}" type="presOf" srcId="{A57B1F28-895D-46F3-9681-070719F54BC9}" destId="{4FFE2FB6-4F9F-4EF4-953D-9250641A1EBC}" srcOrd="0" destOrd="0" presId="urn:microsoft.com/office/officeart/2005/8/layout/process1"/>
    <dgm:cxn modelId="{97381E35-9520-4E8A-950B-A0C8B062F8B0}" type="presOf" srcId="{C6F14077-3342-4855-9395-5226AAD55CCF}" destId="{13A3872C-9ED7-4F63-9FFB-836C153A66D0}" srcOrd="0" destOrd="0" presId="urn:microsoft.com/office/officeart/2005/8/layout/process1"/>
    <dgm:cxn modelId="{E5D13337-120F-4EA2-B5BC-BB235040AC1A}" type="presOf" srcId="{C6F14077-3342-4855-9395-5226AAD55CCF}" destId="{4E689ECA-979C-47B9-916C-55934A0DBC5A}" srcOrd="1" destOrd="0" presId="urn:microsoft.com/office/officeart/2005/8/layout/process1"/>
    <dgm:cxn modelId="{8A51873B-5424-4682-8729-809049648DA0}" type="presOf" srcId="{29E84837-74C4-4A25-9B28-16C17379FB84}" destId="{C773AB02-2C04-4AEF-9126-7A50CA4BBDB0}" srcOrd="0" destOrd="0" presId="urn:microsoft.com/office/officeart/2005/8/layout/process1"/>
    <dgm:cxn modelId="{95729565-0DF3-429E-9084-58F702AED3C4}" srcId="{ECD0FFA9-358E-4996-84F6-67525498FFA8}" destId="{E36CD1CC-3C4E-49AF-B71E-DEC586AB94B2}" srcOrd="0" destOrd="0" parTransId="{A6361181-9364-4D91-849A-49D39D474F56}" sibTransId="{C6F14077-3342-4855-9395-5226AAD55CCF}"/>
    <dgm:cxn modelId="{9B9FC647-B988-401A-8B04-7BF9531DEF85}" srcId="{ECD0FFA9-358E-4996-84F6-67525498FFA8}" destId="{A9FF4C75-BD1E-4500-BFA0-3AC8CBFEDBC4}" srcOrd="2" destOrd="0" parTransId="{D9EEAFAC-9CD5-4E81-86C2-A66D74A0B049}" sibTransId="{792657FA-EA58-423E-9998-099D8D7CDF22}"/>
    <dgm:cxn modelId="{A3A76D77-0CB5-4F0B-8D39-9DA0CDF69758}" type="presOf" srcId="{A9FF4C75-BD1E-4500-BFA0-3AC8CBFEDBC4}" destId="{67BEB0BC-BFAB-4AF7-947B-786D8C9C6FEF}" srcOrd="0" destOrd="0" presId="urn:microsoft.com/office/officeart/2005/8/layout/process1"/>
    <dgm:cxn modelId="{526B1F83-E79A-4073-BC0A-9FA7EB8F66F1}" type="presOf" srcId="{A57B1F28-895D-46F3-9681-070719F54BC9}" destId="{B2D14AA6-E531-4943-B0FC-763AA0E348C8}" srcOrd="1" destOrd="0" presId="urn:microsoft.com/office/officeart/2005/8/layout/process1"/>
    <dgm:cxn modelId="{324A89A8-D1CF-4AC5-AA45-FF0193B6D3AC}" type="presOf" srcId="{ECD0FFA9-358E-4996-84F6-67525498FFA8}" destId="{52CA2D89-266B-4246-9189-FD6016444407}" srcOrd="0" destOrd="0" presId="urn:microsoft.com/office/officeart/2005/8/layout/process1"/>
    <dgm:cxn modelId="{D6EA9DF7-935C-4874-A512-7186BEE0F27C}" type="presOf" srcId="{E36CD1CC-3C4E-49AF-B71E-DEC586AB94B2}" destId="{57AAE3F9-6484-4C25-AFE9-2A5A71D57E02}" srcOrd="0" destOrd="0" presId="urn:microsoft.com/office/officeart/2005/8/layout/process1"/>
    <dgm:cxn modelId="{A0F4D5FB-98C8-4FAF-8AB7-BF808318A3D2}" srcId="{ECD0FFA9-358E-4996-84F6-67525498FFA8}" destId="{29E84837-74C4-4A25-9B28-16C17379FB84}" srcOrd="1" destOrd="0" parTransId="{FD6C2081-6A5F-4BA9-8D5F-20A29ADB4D28}" sibTransId="{A57B1F28-895D-46F3-9681-070719F54BC9}"/>
    <dgm:cxn modelId="{BBAA54CD-ACF0-4A93-A155-983F90EB28FA}" type="presParOf" srcId="{52CA2D89-266B-4246-9189-FD6016444407}" destId="{57AAE3F9-6484-4C25-AFE9-2A5A71D57E02}" srcOrd="0" destOrd="0" presId="urn:microsoft.com/office/officeart/2005/8/layout/process1"/>
    <dgm:cxn modelId="{73DFC1DD-1EA3-4CE0-9058-0870D4DA43AF}" type="presParOf" srcId="{52CA2D89-266B-4246-9189-FD6016444407}" destId="{13A3872C-9ED7-4F63-9FFB-836C153A66D0}" srcOrd="1" destOrd="0" presId="urn:microsoft.com/office/officeart/2005/8/layout/process1"/>
    <dgm:cxn modelId="{6ED388F5-92D1-46A3-ADFB-C02DBED81770}" type="presParOf" srcId="{13A3872C-9ED7-4F63-9FFB-836C153A66D0}" destId="{4E689ECA-979C-47B9-916C-55934A0DBC5A}" srcOrd="0" destOrd="0" presId="urn:microsoft.com/office/officeart/2005/8/layout/process1"/>
    <dgm:cxn modelId="{19939E51-D7E8-4B0D-952C-91FE97BF897C}" type="presParOf" srcId="{52CA2D89-266B-4246-9189-FD6016444407}" destId="{C773AB02-2C04-4AEF-9126-7A50CA4BBDB0}" srcOrd="2" destOrd="0" presId="urn:microsoft.com/office/officeart/2005/8/layout/process1"/>
    <dgm:cxn modelId="{242FBEA1-2BEE-485A-B136-7A347666B13A}" type="presParOf" srcId="{52CA2D89-266B-4246-9189-FD6016444407}" destId="{4FFE2FB6-4F9F-4EF4-953D-9250641A1EBC}" srcOrd="3" destOrd="0" presId="urn:microsoft.com/office/officeart/2005/8/layout/process1"/>
    <dgm:cxn modelId="{88B43D35-2B78-4625-9A65-ED2FE3A1CBCD}" type="presParOf" srcId="{4FFE2FB6-4F9F-4EF4-953D-9250641A1EBC}" destId="{B2D14AA6-E531-4943-B0FC-763AA0E348C8}" srcOrd="0" destOrd="0" presId="urn:microsoft.com/office/officeart/2005/8/layout/process1"/>
    <dgm:cxn modelId="{89FD0E9A-033F-4D5E-A8C3-757221D62849}" type="presParOf" srcId="{52CA2D89-266B-4246-9189-FD6016444407}" destId="{67BEB0BC-BFAB-4AF7-947B-786D8C9C6FE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D0FFA9-358E-4996-84F6-67525498FFA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36CD1CC-3C4E-49AF-B71E-DEC586AB94B2}">
      <dgm:prSet phldrT="[Text]" custT="1"/>
      <dgm:spPr>
        <a:solidFill>
          <a:schemeClr val="accent5">
            <a:lumMod val="20000"/>
            <a:lumOff val="80000"/>
          </a:schemeClr>
        </a:solidFill>
        <a:ln w="28575">
          <a:solidFill>
            <a:srgbClr val="182990"/>
          </a:solidFill>
        </a:ln>
      </dgm:spPr>
      <dgm:t>
        <a:bodyPr/>
        <a:lstStyle/>
        <a:p>
          <a:r>
            <a:rPr lang="en-GB" sz="2800" b="1" dirty="0">
              <a:solidFill>
                <a:srgbClr val="FF0000"/>
              </a:solidFill>
            </a:rPr>
            <a:t>6. </a:t>
          </a:r>
          <a:r>
            <a:rPr lang="en-GB" sz="2800" b="1" dirty="0">
              <a:solidFill>
                <a:schemeClr val="tx1"/>
              </a:solidFill>
            </a:rPr>
            <a:t>Conclusion</a:t>
          </a:r>
          <a:endParaRPr lang="en-ZA" sz="2800" dirty="0">
            <a:solidFill>
              <a:schemeClr val="tx1"/>
            </a:solidFill>
          </a:endParaRPr>
        </a:p>
      </dgm:t>
    </dgm:pt>
    <dgm:pt modelId="{A6361181-9364-4D91-849A-49D39D474F56}" type="parTrans" cxnId="{95729565-0DF3-429E-9084-58F702AED3C4}">
      <dgm:prSet/>
      <dgm:spPr/>
      <dgm:t>
        <a:bodyPr/>
        <a:lstStyle/>
        <a:p>
          <a:endParaRPr lang="en-ZA"/>
        </a:p>
      </dgm:t>
    </dgm:pt>
    <dgm:pt modelId="{C6F14077-3342-4855-9395-5226AAD55CCF}" type="sibTrans" cxnId="{95729565-0DF3-429E-9084-58F702AED3C4}">
      <dgm:prSet/>
      <dgm:spPr>
        <a:ln>
          <a:solidFill>
            <a:srgbClr val="182990"/>
          </a:solidFill>
        </a:ln>
      </dgm:spPr>
      <dgm:t>
        <a:bodyPr/>
        <a:lstStyle/>
        <a:p>
          <a:endParaRPr lang="en-ZA"/>
        </a:p>
      </dgm:t>
    </dgm:pt>
    <dgm:pt modelId="{29E84837-74C4-4A25-9B28-16C17379FB84}">
      <dgm:prSet phldrT="[Text]" custT="1"/>
      <dgm:spPr>
        <a:solidFill>
          <a:schemeClr val="accent5">
            <a:lumMod val="20000"/>
            <a:lumOff val="80000"/>
          </a:schemeClr>
        </a:solidFill>
        <a:ln w="28575">
          <a:solidFill>
            <a:srgbClr val="182990"/>
          </a:solidFill>
        </a:ln>
      </dgm:spPr>
      <dgm:t>
        <a:bodyPr/>
        <a:lstStyle/>
        <a:p>
          <a:r>
            <a:rPr lang="en-GB" sz="2800" b="1" dirty="0">
              <a:solidFill>
                <a:srgbClr val="FF0000"/>
              </a:solidFill>
            </a:rPr>
            <a:t>5. </a:t>
          </a:r>
          <a:r>
            <a:rPr lang="en-GB" sz="2800" b="1" dirty="0">
              <a:solidFill>
                <a:schemeClr val="tx1"/>
              </a:solidFill>
            </a:rPr>
            <a:t>Model evaluation</a:t>
          </a:r>
          <a:endParaRPr lang="en-ZA" sz="2800" dirty="0">
            <a:solidFill>
              <a:schemeClr val="tx1"/>
            </a:solidFill>
          </a:endParaRPr>
        </a:p>
      </dgm:t>
    </dgm:pt>
    <dgm:pt modelId="{FD6C2081-6A5F-4BA9-8D5F-20A29ADB4D28}" type="parTrans" cxnId="{A0F4D5FB-98C8-4FAF-8AB7-BF808318A3D2}">
      <dgm:prSet/>
      <dgm:spPr/>
      <dgm:t>
        <a:bodyPr/>
        <a:lstStyle/>
        <a:p>
          <a:endParaRPr lang="en-ZA"/>
        </a:p>
      </dgm:t>
    </dgm:pt>
    <dgm:pt modelId="{A57B1F28-895D-46F3-9681-070719F54BC9}" type="sibTrans" cxnId="{A0F4D5FB-98C8-4FAF-8AB7-BF808318A3D2}">
      <dgm:prSet/>
      <dgm:spPr>
        <a:ln>
          <a:solidFill>
            <a:srgbClr val="182990"/>
          </a:solidFill>
        </a:ln>
      </dgm:spPr>
      <dgm:t>
        <a:bodyPr/>
        <a:lstStyle/>
        <a:p>
          <a:endParaRPr lang="en-ZA"/>
        </a:p>
      </dgm:t>
    </dgm:pt>
    <dgm:pt modelId="{A9FF4C75-BD1E-4500-BFA0-3AC8CBFEDBC4}">
      <dgm:prSet phldrT="[Text]" custT="1"/>
      <dgm:spPr>
        <a:solidFill>
          <a:schemeClr val="accent5">
            <a:lumMod val="20000"/>
            <a:lumOff val="80000"/>
          </a:schemeClr>
        </a:solidFill>
        <a:ln w="28575">
          <a:solidFill>
            <a:srgbClr val="182990"/>
          </a:solidFill>
        </a:ln>
      </dgm:spPr>
      <dgm:t>
        <a:bodyPr/>
        <a:lstStyle/>
        <a:p>
          <a:r>
            <a:rPr lang="en-GB" sz="2800" b="1" dirty="0">
              <a:solidFill>
                <a:srgbClr val="FF0000"/>
              </a:solidFill>
            </a:rPr>
            <a:t>4. </a:t>
          </a:r>
          <a:r>
            <a:rPr lang="en-GB" sz="2800" b="1" dirty="0">
              <a:solidFill>
                <a:schemeClr val="tx1"/>
              </a:solidFill>
            </a:rPr>
            <a:t>Modelling</a:t>
          </a:r>
          <a:endParaRPr lang="en-ZA" sz="2800" dirty="0">
            <a:solidFill>
              <a:schemeClr val="tx1"/>
            </a:solidFill>
          </a:endParaRPr>
        </a:p>
      </dgm:t>
    </dgm:pt>
    <dgm:pt modelId="{D9EEAFAC-9CD5-4E81-86C2-A66D74A0B049}" type="parTrans" cxnId="{9B9FC647-B988-401A-8B04-7BF9531DEF85}">
      <dgm:prSet/>
      <dgm:spPr/>
      <dgm:t>
        <a:bodyPr/>
        <a:lstStyle/>
        <a:p>
          <a:endParaRPr lang="en-ZA"/>
        </a:p>
      </dgm:t>
    </dgm:pt>
    <dgm:pt modelId="{792657FA-EA58-423E-9998-099D8D7CDF22}" type="sibTrans" cxnId="{9B9FC647-B988-401A-8B04-7BF9531DEF85}">
      <dgm:prSet/>
      <dgm:spPr/>
      <dgm:t>
        <a:bodyPr/>
        <a:lstStyle/>
        <a:p>
          <a:endParaRPr lang="en-ZA"/>
        </a:p>
      </dgm:t>
    </dgm:pt>
    <dgm:pt modelId="{52CA2D89-266B-4246-9189-FD6016444407}" type="pres">
      <dgm:prSet presAssocID="{ECD0FFA9-358E-4996-84F6-67525498FFA8}" presName="Name0" presStyleCnt="0">
        <dgm:presLayoutVars>
          <dgm:dir/>
          <dgm:resizeHandles val="exact"/>
        </dgm:presLayoutVars>
      </dgm:prSet>
      <dgm:spPr/>
    </dgm:pt>
    <dgm:pt modelId="{57AAE3F9-6484-4C25-AFE9-2A5A71D57E02}" type="pres">
      <dgm:prSet presAssocID="{E36CD1CC-3C4E-49AF-B71E-DEC586AB94B2}" presName="node" presStyleLbl="node1" presStyleIdx="0" presStyleCnt="3">
        <dgm:presLayoutVars>
          <dgm:bulletEnabled val="1"/>
        </dgm:presLayoutVars>
      </dgm:prSet>
      <dgm:spPr/>
    </dgm:pt>
    <dgm:pt modelId="{13A3872C-9ED7-4F63-9FFB-836C153A66D0}" type="pres">
      <dgm:prSet presAssocID="{C6F14077-3342-4855-9395-5226AAD55CCF}" presName="sibTrans" presStyleLbl="sibTrans2D1" presStyleIdx="0" presStyleCnt="2" custAng="10800000"/>
      <dgm:spPr/>
    </dgm:pt>
    <dgm:pt modelId="{4E689ECA-979C-47B9-916C-55934A0DBC5A}" type="pres">
      <dgm:prSet presAssocID="{C6F14077-3342-4855-9395-5226AAD55CCF}" presName="connectorText" presStyleLbl="sibTrans2D1" presStyleIdx="0" presStyleCnt="2"/>
      <dgm:spPr/>
    </dgm:pt>
    <dgm:pt modelId="{C773AB02-2C04-4AEF-9126-7A50CA4BBDB0}" type="pres">
      <dgm:prSet presAssocID="{29E84837-74C4-4A25-9B28-16C17379FB84}" presName="node" presStyleLbl="node1" presStyleIdx="1" presStyleCnt="3">
        <dgm:presLayoutVars>
          <dgm:bulletEnabled val="1"/>
        </dgm:presLayoutVars>
      </dgm:prSet>
      <dgm:spPr/>
    </dgm:pt>
    <dgm:pt modelId="{4FFE2FB6-4F9F-4EF4-953D-9250641A1EBC}" type="pres">
      <dgm:prSet presAssocID="{A57B1F28-895D-46F3-9681-070719F54BC9}" presName="sibTrans" presStyleLbl="sibTrans2D1" presStyleIdx="1" presStyleCnt="2" custAng="10583256"/>
      <dgm:spPr/>
    </dgm:pt>
    <dgm:pt modelId="{B2D14AA6-E531-4943-B0FC-763AA0E348C8}" type="pres">
      <dgm:prSet presAssocID="{A57B1F28-895D-46F3-9681-070719F54BC9}" presName="connectorText" presStyleLbl="sibTrans2D1" presStyleIdx="1" presStyleCnt="2"/>
      <dgm:spPr/>
    </dgm:pt>
    <dgm:pt modelId="{67BEB0BC-BFAB-4AF7-947B-786D8C9C6FEF}" type="pres">
      <dgm:prSet presAssocID="{A9FF4C75-BD1E-4500-BFA0-3AC8CBFEDBC4}" presName="node" presStyleLbl="node1" presStyleIdx="2" presStyleCnt="3" custScaleX="108438">
        <dgm:presLayoutVars>
          <dgm:bulletEnabled val="1"/>
        </dgm:presLayoutVars>
      </dgm:prSet>
      <dgm:spPr/>
    </dgm:pt>
  </dgm:ptLst>
  <dgm:cxnLst>
    <dgm:cxn modelId="{8E46EC2A-891F-40D9-AB4A-8EFC978375DC}" type="presOf" srcId="{A57B1F28-895D-46F3-9681-070719F54BC9}" destId="{4FFE2FB6-4F9F-4EF4-953D-9250641A1EBC}" srcOrd="0" destOrd="0" presId="urn:microsoft.com/office/officeart/2005/8/layout/process1"/>
    <dgm:cxn modelId="{97381E35-9520-4E8A-950B-A0C8B062F8B0}" type="presOf" srcId="{C6F14077-3342-4855-9395-5226AAD55CCF}" destId="{13A3872C-9ED7-4F63-9FFB-836C153A66D0}" srcOrd="0" destOrd="0" presId="urn:microsoft.com/office/officeart/2005/8/layout/process1"/>
    <dgm:cxn modelId="{E5D13337-120F-4EA2-B5BC-BB235040AC1A}" type="presOf" srcId="{C6F14077-3342-4855-9395-5226AAD55CCF}" destId="{4E689ECA-979C-47B9-916C-55934A0DBC5A}" srcOrd="1" destOrd="0" presId="urn:microsoft.com/office/officeart/2005/8/layout/process1"/>
    <dgm:cxn modelId="{8A51873B-5424-4682-8729-809049648DA0}" type="presOf" srcId="{29E84837-74C4-4A25-9B28-16C17379FB84}" destId="{C773AB02-2C04-4AEF-9126-7A50CA4BBDB0}" srcOrd="0" destOrd="0" presId="urn:microsoft.com/office/officeart/2005/8/layout/process1"/>
    <dgm:cxn modelId="{95729565-0DF3-429E-9084-58F702AED3C4}" srcId="{ECD0FFA9-358E-4996-84F6-67525498FFA8}" destId="{E36CD1CC-3C4E-49AF-B71E-DEC586AB94B2}" srcOrd="0" destOrd="0" parTransId="{A6361181-9364-4D91-849A-49D39D474F56}" sibTransId="{C6F14077-3342-4855-9395-5226AAD55CCF}"/>
    <dgm:cxn modelId="{9B9FC647-B988-401A-8B04-7BF9531DEF85}" srcId="{ECD0FFA9-358E-4996-84F6-67525498FFA8}" destId="{A9FF4C75-BD1E-4500-BFA0-3AC8CBFEDBC4}" srcOrd="2" destOrd="0" parTransId="{D9EEAFAC-9CD5-4E81-86C2-A66D74A0B049}" sibTransId="{792657FA-EA58-423E-9998-099D8D7CDF22}"/>
    <dgm:cxn modelId="{A3A76D77-0CB5-4F0B-8D39-9DA0CDF69758}" type="presOf" srcId="{A9FF4C75-BD1E-4500-BFA0-3AC8CBFEDBC4}" destId="{67BEB0BC-BFAB-4AF7-947B-786D8C9C6FEF}" srcOrd="0" destOrd="0" presId="urn:microsoft.com/office/officeart/2005/8/layout/process1"/>
    <dgm:cxn modelId="{526B1F83-E79A-4073-BC0A-9FA7EB8F66F1}" type="presOf" srcId="{A57B1F28-895D-46F3-9681-070719F54BC9}" destId="{B2D14AA6-E531-4943-B0FC-763AA0E348C8}" srcOrd="1" destOrd="0" presId="urn:microsoft.com/office/officeart/2005/8/layout/process1"/>
    <dgm:cxn modelId="{324A89A8-D1CF-4AC5-AA45-FF0193B6D3AC}" type="presOf" srcId="{ECD0FFA9-358E-4996-84F6-67525498FFA8}" destId="{52CA2D89-266B-4246-9189-FD6016444407}" srcOrd="0" destOrd="0" presId="urn:microsoft.com/office/officeart/2005/8/layout/process1"/>
    <dgm:cxn modelId="{D6EA9DF7-935C-4874-A512-7186BEE0F27C}" type="presOf" srcId="{E36CD1CC-3C4E-49AF-B71E-DEC586AB94B2}" destId="{57AAE3F9-6484-4C25-AFE9-2A5A71D57E02}" srcOrd="0" destOrd="0" presId="urn:microsoft.com/office/officeart/2005/8/layout/process1"/>
    <dgm:cxn modelId="{A0F4D5FB-98C8-4FAF-8AB7-BF808318A3D2}" srcId="{ECD0FFA9-358E-4996-84F6-67525498FFA8}" destId="{29E84837-74C4-4A25-9B28-16C17379FB84}" srcOrd="1" destOrd="0" parTransId="{FD6C2081-6A5F-4BA9-8D5F-20A29ADB4D28}" sibTransId="{A57B1F28-895D-46F3-9681-070719F54BC9}"/>
    <dgm:cxn modelId="{BBAA54CD-ACF0-4A93-A155-983F90EB28FA}" type="presParOf" srcId="{52CA2D89-266B-4246-9189-FD6016444407}" destId="{57AAE3F9-6484-4C25-AFE9-2A5A71D57E02}" srcOrd="0" destOrd="0" presId="urn:microsoft.com/office/officeart/2005/8/layout/process1"/>
    <dgm:cxn modelId="{73DFC1DD-1EA3-4CE0-9058-0870D4DA43AF}" type="presParOf" srcId="{52CA2D89-266B-4246-9189-FD6016444407}" destId="{13A3872C-9ED7-4F63-9FFB-836C153A66D0}" srcOrd="1" destOrd="0" presId="urn:microsoft.com/office/officeart/2005/8/layout/process1"/>
    <dgm:cxn modelId="{6ED388F5-92D1-46A3-ADFB-C02DBED81770}" type="presParOf" srcId="{13A3872C-9ED7-4F63-9FFB-836C153A66D0}" destId="{4E689ECA-979C-47B9-916C-55934A0DBC5A}" srcOrd="0" destOrd="0" presId="urn:microsoft.com/office/officeart/2005/8/layout/process1"/>
    <dgm:cxn modelId="{19939E51-D7E8-4B0D-952C-91FE97BF897C}" type="presParOf" srcId="{52CA2D89-266B-4246-9189-FD6016444407}" destId="{C773AB02-2C04-4AEF-9126-7A50CA4BBDB0}" srcOrd="2" destOrd="0" presId="urn:microsoft.com/office/officeart/2005/8/layout/process1"/>
    <dgm:cxn modelId="{242FBEA1-2BEE-485A-B136-7A347666B13A}" type="presParOf" srcId="{52CA2D89-266B-4246-9189-FD6016444407}" destId="{4FFE2FB6-4F9F-4EF4-953D-9250641A1EBC}" srcOrd="3" destOrd="0" presId="urn:microsoft.com/office/officeart/2005/8/layout/process1"/>
    <dgm:cxn modelId="{88B43D35-2B78-4625-9A65-ED2FE3A1CBCD}" type="presParOf" srcId="{4FFE2FB6-4F9F-4EF4-953D-9250641A1EBC}" destId="{B2D14AA6-E531-4943-B0FC-763AA0E348C8}" srcOrd="0" destOrd="0" presId="urn:microsoft.com/office/officeart/2005/8/layout/process1"/>
    <dgm:cxn modelId="{89FD0E9A-033F-4D5E-A8C3-757221D62849}" type="presParOf" srcId="{52CA2D89-266B-4246-9189-FD6016444407}" destId="{67BEB0BC-BFAB-4AF7-947B-786D8C9C6FE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927854-11BD-4FB1-8786-8E34BCB4E16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742622-3652-4DA4-A5D8-6DDF21F9152D}">
      <dgm:prSet custT="1"/>
      <dgm:spPr/>
      <dgm:t>
        <a:bodyPr/>
        <a:lstStyle/>
        <a:p>
          <a:pPr algn="l"/>
          <a:r>
            <a:rPr lang="en-GB" sz="2600" dirty="0"/>
            <a:t>Showed various statistical learning models’(e.g. Logistic regressing, KNN and decision tree) success in predicting customer behaviour</a:t>
          </a:r>
          <a:r>
            <a:rPr lang="en-ZA" sz="2600" dirty="0">
              <a:hlinkClick xmlns:r="http://schemas.openxmlformats.org/officeDocument/2006/relationships" r:id="rId1"/>
            </a:rPr>
            <a:t> Moro et al., 2014</a:t>
          </a:r>
          <a:r>
            <a:rPr lang="en-ZA" sz="2600" dirty="0"/>
            <a:t>.</a:t>
          </a:r>
          <a:endParaRPr lang="en-US" sz="2600" dirty="0"/>
        </a:p>
      </dgm:t>
    </dgm:pt>
    <dgm:pt modelId="{B10E0D52-7B2B-4794-9E50-E07C82441E8B}" type="parTrans" cxnId="{A912BF5B-086B-41D1-AECB-3F7D64FBF97B}">
      <dgm:prSet/>
      <dgm:spPr/>
      <dgm:t>
        <a:bodyPr/>
        <a:lstStyle/>
        <a:p>
          <a:endParaRPr lang="en-US"/>
        </a:p>
      </dgm:t>
    </dgm:pt>
    <dgm:pt modelId="{15CA1DC2-AD5F-4AFA-A342-B0AFF4DCC5E1}" type="sibTrans" cxnId="{A912BF5B-086B-41D1-AECB-3F7D64FBF97B}">
      <dgm:prSet/>
      <dgm:spPr/>
      <dgm:t>
        <a:bodyPr/>
        <a:lstStyle/>
        <a:p>
          <a:endParaRPr lang="en-US"/>
        </a:p>
      </dgm:t>
    </dgm:pt>
    <dgm:pt modelId="{4451A8F5-A344-4CC7-86BC-5AACD385A9DB}">
      <dgm:prSet custT="1"/>
      <dgm:spPr/>
      <dgm:t>
        <a:bodyPr/>
        <a:lstStyle/>
        <a:p>
          <a:pPr algn="l"/>
          <a:r>
            <a:rPr lang="en-GB" sz="2600" b="1" u="sng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Significant factors </a:t>
          </a:r>
          <a:r>
            <a:rPr lang="en-GB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identified - age, job, education, and housing status </a:t>
          </a:r>
          <a:r>
            <a:rPr lang="en-ZA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  <a:hlinkClick xmlns:r="http://schemas.openxmlformats.org/officeDocument/2006/relationships" r:id="rId2"/>
            </a:rPr>
            <a:t>Tekouabou et al., 2019</a:t>
          </a:r>
          <a:r>
            <a:rPr lang="en-ZA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.</a:t>
          </a:r>
          <a:endParaRPr 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F1699509-DAA0-492C-A023-3CF05A1B6E86}" type="parTrans" cxnId="{6C0B6998-79AE-4B01-9757-69C104318E75}">
      <dgm:prSet/>
      <dgm:spPr/>
      <dgm:t>
        <a:bodyPr/>
        <a:lstStyle/>
        <a:p>
          <a:endParaRPr lang="en-US"/>
        </a:p>
      </dgm:t>
    </dgm:pt>
    <dgm:pt modelId="{8A15ECD5-0A63-4447-A9B8-BD1B56B6CE03}" type="sibTrans" cxnId="{6C0B6998-79AE-4B01-9757-69C104318E75}">
      <dgm:prSet/>
      <dgm:spPr/>
      <dgm:t>
        <a:bodyPr/>
        <a:lstStyle/>
        <a:p>
          <a:endParaRPr lang="en-US"/>
        </a:p>
      </dgm:t>
    </dgm:pt>
    <dgm:pt modelId="{79FC93EB-00DA-45CD-8C32-4CB6D71A16C1}">
      <dgm:prSet custT="1"/>
      <dgm:spPr/>
      <dgm:t>
        <a:bodyPr/>
        <a:lstStyle/>
        <a:p>
          <a:pPr algn="l"/>
          <a:r>
            <a:rPr lang="en-GB" sz="2600" b="1" u="sng" dirty="0"/>
            <a:t>Challenges</a:t>
          </a:r>
          <a:r>
            <a:rPr lang="en-GB" sz="2600" dirty="0"/>
            <a:t>: data quality, regulatory constraints, and model interpretability </a:t>
          </a:r>
          <a:r>
            <a:rPr lang="en-ZA" sz="2600" dirty="0" err="1">
              <a:hlinkClick xmlns:r="http://schemas.openxmlformats.org/officeDocument/2006/relationships" r:id="rId3"/>
            </a:rPr>
            <a:t>Mehrabi</a:t>
          </a:r>
          <a:r>
            <a:rPr lang="en-ZA" sz="2600" dirty="0">
              <a:hlinkClick xmlns:r="http://schemas.openxmlformats.org/officeDocument/2006/relationships" r:id="rId3"/>
            </a:rPr>
            <a:t> et al., 2021</a:t>
          </a:r>
          <a:r>
            <a:rPr lang="en-ZA" sz="2600" dirty="0"/>
            <a:t>.</a:t>
          </a:r>
          <a:endParaRPr lang="en-US" sz="2600" dirty="0"/>
        </a:p>
      </dgm:t>
    </dgm:pt>
    <dgm:pt modelId="{B8C3049F-8159-4DB1-8C50-DB8D7B0EF410}" type="parTrans" cxnId="{EB309323-A90A-4ACF-8F94-CB7A10DAC38F}">
      <dgm:prSet/>
      <dgm:spPr/>
      <dgm:t>
        <a:bodyPr/>
        <a:lstStyle/>
        <a:p>
          <a:endParaRPr lang="en-US"/>
        </a:p>
      </dgm:t>
    </dgm:pt>
    <dgm:pt modelId="{DF30FCBE-84D1-4587-A61B-FAFA72BE025B}" type="sibTrans" cxnId="{EB309323-A90A-4ACF-8F94-CB7A10DAC38F}">
      <dgm:prSet/>
      <dgm:spPr/>
      <dgm:t>
        <a:bodyPr/>
        <a:lstStyle/>
        <a:p>
          <a:endParaRPr lang="en-US"/>
        </a:p>
      </dgm:t>
    </dgm:pt>
    <dgm:pt modelId="{406AA4C2-9772-4918-AC09-C3CE318F7093}" type="pres">
      <dgm:prSet presAssocID="{15927854-11BD-4FB1-8786-8E34BCB4E1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01E7B98-3322-4F78-BF28-260D8BA885B4}" type="pres">
      <dgm:prSet presAssocID="{34742622-3652-4DA4-A5D8-6DDF21F9152D}" presName="hierRoot1" presStyleCnt="0"/>
      <dgm:spPr/>
    </dgm:pt>
    <dgm:pt modelId="{EFD56DB5-2DE0-482F-99F5-06F5789CB13E}" type="pres">
      <dgm:prSet presAssocID="{34742622-3652-4DA4-A5D8-6DDF21F9152D}" presName="composite" presStyleCnt="0"/>
      <dgm:spPr/>
    </dgm:pt>
    <dgm:pt modelId="{99287F65-7338-4A5C-A62A-CB42041E197A}" type="pres">
      <dgm:prSet presAssocID="{34742622-3652-4DA4-A5D8-6DDF21F9152D}" presName="background" presStyleLbl="node0" presStyleIdx="0" presStyleCnt="3"/>
      <dgm:spPr/>
    </dgm:pt>
    <dgm:pt modelId="{A49B333D-EA81-437D-9CAC-A2AC33D5184B}" type="pres">
      <dgm:prSet presAssocID="{34742622-3652-4DA4-A5D8-6DDF21F9152D}" presName="text" presStyleLbl="fgAcc0" presStyleIdx="0" presStyleCnt="3" custScaleX="119013" custScaleY="166613">
        <dgm:presLayoutVars>
          <dgm:chPref val="3"/>
        </dgm:presLayoutVars>
      </dgm:prSet>
      <dgm:spPr/>
    </dgm:pt>
    <dgm:pt modelId="{B2C9AFA6-7D45-44CA-A5F2-E42B045AEE7D}" type="pres">
      <dgm:prSet presAssocID="{34742622-3652-4DA4-A5D8-6DDF21F9152D}" presName="hierChild2" presStyleCnt="0"/>
      <dgm:spPr/>
    </dgm:pt>
    <dgm:pt modelId="{368FBB69-623A-48E6-AB9A-1248F62E43C5}" type="pres">
      <dgm:prSet presAssocID="{4451A8F5-A344-4CC7-86BC-5AACD385A9DB}" presName="hierRoot1" presStyleCnt="0"/>
      <dgm:spPr/>
    </dgm:pt>
    <dgm:pt modelId="{2A960F84-76C4-4463-8183-AE21ECC231A0}" type="pres">
      <dgm:prSet presAssocID="{4451A8F5-A344-4CC7-86BC-5AACD385A9DB}" presName="composite" presStyleCnt="0"/>
      <dgm:spPr/>
    </dgm:pt>
    <dgm:pt modelId="{23A18009-961C-413D-BACB-E12F23B7D2A6}" type="pres">
      <dgm:prSet presAssocID="{4451A8F5-A344-4CC7-86BC-5AACD385A9DB}" presName="background" presStyleLbl="node0" presStyleIdx="1" presStyleCnt="3"/>
      <dgm:spPr/>
    </dgm:pt>
    <dgm:pt modelId="{A0A77BC7-CFD8-469F-87BD-F62C5FCAE7A4}" type="pres">
      <dgm:prSet presAssocID="{4451A8F5-A344-4CC7-86BC-5AACD385A9DB}" presName="text" presStyleLbl="fgAcc0" presStyleIdx="1" presStyleCnt="3" custScaleY="163679">
        <dgm:presLayoutVars>
          <dgm:chPref val="3"/>
        </dgm:presLayoutVars>
      </dgm:prSet>
      <dgm:spPr/>
    </dgm:pt>
    <dgm:pt modelId="{B19486B3-FCD0-4C34-A786-7D200D5D8944}" type="pres">
      <dgm:prSet presAssocID="{4451A8F5-A344-4CC7-86BC-5AACD385A9DB}" presName="hierChild2" presStyleCnt="0"/>
      <dgm:spPr/>
    </dgm:pt>
    <dgm:pt modelId="{2A7C83CB-28BE-4B99-8F42-47A3DBD126D6}" type="pres">
      <dgm:prSet presAssocID="{79FC93EB-00DA-45CD-8C32-4CB6D71A16C1}" presName="hierRoot1" presStyleCnt="0"/>
      <dgm:spPr/>
    </dgm:pt>
    <dgm:pt modelId="{1EB4FD7D-EF60-49CF-8A6C-00F1F78A9E0A}" type="pres">
      <dgm:prSet presAssocID="{79FC93EB-00DA-45CD-8C32-4CB6D71A16C1}" presName="composite" presStyleCnt="0"/>
      <dgm:spPr/>
    </dgm:pt>
    <dgm:pt modelId="{665EA2AB-5892-46FF-A729-DC8DD6411E2B}" type="pres">
      <dgm:prSet presAssocID="{79FC93EB-00DA-45CD-8C32-4CB6D71A16C1}" presName="background" presStyleLbl="node0" presStyleIdx="2" presStyleCnt="3"/>
      <dgm:spPr/>
    </dgm:pt>
    <dgm:pt modelId="{6D7961F2-B86F-4234-B1C9-83946E4E550B}" type="pres">
      <dgm:prSet presAssocID="{79FC93EB-00DA-45CD-8C32-4CB6D71A16C1}" presName="text" presStyleLbl="fgAcc0" presStyleIdx="2" presStyleCnt="3" custScaleY="161263">
        <dgm:presLayoutVars>
          <dgm:chPref val="3"/>
        </dgm:presLayoutVars>
      </dgm:prSet>
      <dgm:spPr/>
    </dgm:pt>
    <dgm:pt modelId="{84DEE2F4-1A0B-4294-B86C-83A4CFD56CC1}" type="pres">
      <dgm:prSet presAssocID="{79FC93EB-00DA-45CD-8C32-4CB6D71A16C1}" presName="hierChild2" presStyleCnt="0"/>
      <dgm:spPr/>
    </dgm:pt>
  </dgm:ptLst>
  <dgm:cxnLst>
    <dgm:cxn modelId="{EB309323-A90A-4ACF-8F94-CB7A10DAC38F}" srcId="{15927854-11BD-4FB1-8786-8E34BCB4E160}" destId="{79FC93EB-00DA-45CD-8C32-4CB6D71A16C1}" srcOrd="2" destOrd="0" parTransId="{B8C3049F-8159-4DB1-8C50-DB8D7B0EF410}" sibTransId="{DF30FCBE-84D1-4587-A61B-FAFA72BE025B}"/>
    <dgm:cxn modelId="{A912BF5B-086B-41D1-AECB-3F7D64FBF97B}" srcId="{15927854-11BD-4FB1-8786-8E34BCB4E160}" destId="{34742622-3652-4DA4-A5D8-6DDF21F9152D}" srcOrd="0" destOrd="0" parTransId="{B10E0D52-7B2B-4794-9E50-E07C82441E8B}" sibTransId="{15CA1DC2-AD5F-4AFA-A342-B0AFF4DCC5E1}"/>
    <dgm:cxn modelId="{093AF984-B874-4016-BB50-9CF0C05B75B9}" type="presOf" srcId="{15927854-11BD-4FB1-8786-8E34BCB4E160}" destId="{406AA4C2-9772-4918-AC09-C3CE318F7093}" srcOrd="0" destOrd="0" presId="urn:microsoft.com/office/officeart/2005/8/layout/hierarchy1"/>
    <dgm:cxn modelId="{A111C989-2D32-4138-B2FB-5C1A664D5F40}" type="presOf" srcId="{4451A8F5-A344-4CC7-86BC-5AACD385A9DB}" destId="{A0A77BC7-CFD8-469F-87BD-F62C5FCAE7A4}" srcOrd="0" destOrd="0" presId="urn:microsoft.com/office/officeart/2005/8/layout/hierarchy1"/>
    <dgm:cxn modelId="{6C0B6998-79AE-4B01-9757-69C104318E75}" srcId="{15927854-11BD-4FB1-8786-8E34BCB4E160}" destId="{4451A8F5-A344-4CC7-86BC-5AACD385A9DB}" srcOrd="1" destOrd="0" parTransId="{F1699509-DAA0-492C-A023-3CF05A1B6E86}" sibTransId="{8A15ECD5-0A63-4447-A9B8-BD1B56B6CE03}"/>
    <dgm:cxn modelId="{806658C5-84EF-4587-8FDB-8A8204638112}" type="presOf" srcId="{34742622-3652-4DA4-A5D8-6DDF21F9152D}" destId="{A49B333D-EA81-437D-9CAC-A2AC33D5184B}" srcOrd="0" destOrd="0" presId="urn:microsoft.com/office/officeart/2005/8/layout/hierarchy1"/>
    <dgm:cxn modelId="{D7C6F9E2-8B95-46BB-9357-F7344DF52442}" type="presOf" srcId="{79FC93EB-00DA-45CD-8C32-4CB6D71A16C1}" destId="{6D7961F2-B86F-4234-B1C9-83946E4E550B}" srcOrd="0" destOrd="0" presId="urn:microsoft.com/office/officeart/2005/8/layout/hierarchy1"/>
    <dgm:cxn modelId="{EA242126-A946-4CF7-BAF3-878A07E3EA28}" type="presParOf" srcId="{406AA4C2-9772-4918-AC09-C3CE318F7093}" destId="{B01E7B98-3322-4F78-BF28-260D8BA885B4}" srcOrd="0" destOrd="0" presId="urn:microsoft.com/office/officeart/2005/8/layout/hierarchy1"/>
    <dgm:cxn modelId="{169AB6B7-D480-42E5-AB99-B8AD977577C4}" type="presParOf" srcId="{B01E7B98-3322-4F78-BF28-260D8BA885B4}" destId="{EFD56DB5-2DE0-482F-99F5-06F5789CB13E}" srcOrd="0" destOrd="0" presId="urn:microsoft.com/office/officeart/2005/8/layout/hierarchy1"/>
    <dgm:cxn modelId="{D9D19972-97D7-4268-93FF-192156D46619}" type="presParOf" srcId="{EFD56DB5-2DE0-482F-99F5-06F5789CB13E}" destId="{99287F65-7338-4A5C-A62A-CB42041E197A}" srcOrd="0" destOrd="0" presId="urn:microsoft.com/office/officeart/2005/8/layout/hierarchy1"/>
    <dgm:cxn modelId="{008A145D-34BE-49F8-93E8-71B9785A9ADA}" type="presParOf" srcId="{EFD56DB5-2DE0-482F-99F5-06F5789CB13E}" destId="{A49B333D-EA81-437D-9CAC-A2AC33D5184B}" srcOrd="1" destOrd="0" presId="urn:microsoft.com/office/officeart/2005/8/layout/hierarchy1"/>
    <dgm:cxn modelId="{610997B8-3605-44F9-B36F-917E54E11FC6}" type="presParOf" srcId="{B01E7B98-3322-4F78-BF28-260D8BA885B4}" destId="{B2C9AFA6-7D45-44CA-A5F2-E42B045AEE7D}" srcOrd="1" destOrd="0" presId="urn:microsoft.com/office/officeart/2005/8/layout/hierarchy1"/>
    <dgm:cxn modelId="{9536DDE1-E3B9-457C-9D78-5E8D3F010BD0}" type="presParOf" srcId="{406AA4C2-9772-4918-AC09-C3CE318F7093}" destId="{368FBB69-623A-48E6-AB9A-1248F62E43C5}" srcOrd="1" destOrd="0" presId="urn:microsoft.com/office/officeart/2005/8/layout/hierarchy1"/>
    <dgm:cxn modelId="{D7B8525A-4567-435D-8210-6AF61BC04BD8}" type="presParOf" srcId="{368FBB69-623A-48E6-AB9A-1248F62E43C5}" destId="{2A960F84-76C4-4463-8183-AE21ECC231A0}" srcOrd="0" destOrd="0" presId="urn:microsoft.com/office/officeart/2005/8/layout/hierarchy1"/>
    <dgm:cxn modelId="{796D2B7B-BD08-4695-9DDD-B33B7B3643B4}" type="presParOf" srcId="{2A960F84-76C4-4463-8183-AE21ECC231A0}" destId="{23A18009-961C-413D-BACB-E12F23B7D2A6}" srcOrd="0" destOrd="0" presId="urn:microsoft.com/office/officeart/2005/8/layout/hierarchy1"/>
    <dgm:cxn modelId="{07311A74-B0E7-49CF-AF32-B2E03F80659B}" type="presParOf" srcId="{2A960F84-76C4-4463-8183-AE21ECC231A0}" destId="{A0A77BC7-CFD8-469F-87BD-F62C5FCAE7A4}" srcOrd="1" destOrd="0" presId="urn:microsoft.com/office/officeart/2005/8/layout/hierarchy1"/>
    <dgm:cxn modelId="{A4A02F88-DB82-4B96-AD92-50D46C1596F8}" type="presParOf" srcId="{368FBB69-623A-48E6-AB9A-1248F62E43C5}" destId="{B19486B3-FCD0-4C34-A786-7D200D5D8944}" srcOrd="1" destOrd="0" presId="urn:microsoft.com/office/officeart/2005/8/layout/hierarchy1"/>
    <dgm:cxn modelId="{A6CD58FE-EF2A-447C-8EC2-D0699B6EE771}" type="presParOf" srcId="{406AA4C2-9772-4918-AC09-C3CE318F7093}" destId="{2A7C83CB-28BE-4B99-8F42-47A3DBD126D6}" srcOrd="2" destOrd="0" presId="urn:microsoft.com/office/officeart/2005/8/layout/hierarchy1"/>
    <dgm:cxn modelId="{E28107E9-6D9C-4A07-B8E4-E15B3DB5EE7D}" type="presParOf" srcId="{2A7C83CB-28BE-4B99-8F42-47A3DBD126D6}" destId="{1EB4FD7D-EF60-49CF-8A6C-00F1F78A9E0A}" srcOrd="0" destOrd="0" presId="urn:microsoft.com/office/officeart/2005/8/layout/hierarchy1"/>
    <dgm:cxn modelId="{03A95F47-104F-49A4-A4A8-640CB331C1D4}" type="presParOf" srcId="{1EB4FD7D-EF60-49CF-8A6C-00F1F78A9E0A}" destId="{665EA2AB-5892-46FF-A729-DC8DD6411E2B}" srcOrd="0" destOrd="0" presId="urn:microsoft.com/office/officeart/2005/8/layout/hierarchy1"/>
    <dgm:cxn modelId="{411E54F5-AC4D-461E-93E0-EBFD77F12035}" type="presParOf" srcId="{1EB4FD7D-EF60-49CF-8A6C-00F1F78A9E0A}" destId="{6D7961F2-B86F-4234-B1C9-83946E4E550B}" srcOrd="1" destOrd="0" presId="urn:microsoft.com/office/officeart/2005/8/layout/hierarchy1"/>
    <dgm:cxn modelId="{20C2B151-92FF-4531-879C-73C44A1B4C21}" type="presParOf" srcId="{2A7C83CB-28BE-4B99-8F42-47A3DBD126D6}" destId="{84DEE2F4-1A0B-4294-B86C-83A4CFD56CC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91222A-E5EB-4A85-AD78-874027C1DAF3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</dgm:pt>
    <dgm:pt modelId="{785CDA11-7756-42A2-8B3C-953424441869}">
      <dgm:prSet phldrT="[Text]" custT="1"/>
      <dgm:spPr/>
      <dgm:t>
        <a:bodyPr/>
        <a:lstStyle/>
        <a:p>
          <a:r>
            <a:rPr lang="en-ZA" sz="2400" b="1" dirty="0"/>
            <a:t>Initial:</a:t>
          </a:r>
        </a:p>
        <a:p>
          <a:r>
            <a:rPr lang="en-ZA" sz="2400" dirty="0"/>
            <a:t>(45220 entries,20 variables)</a:t>
          </a:r>
        </a:p>
      </dgm:t>
    </dgm:pt>
    <dgm:pt modelId="{FFF5A160-EB0B-4550-85AB-286BF708E36B}" type="parTrans" cxnId="{ADA19635-615E-4319-AE06-3D76C574E36D}">
      <dgm:prSet/>
      <dgm:spPr/>
      <dgm:t>
        <a:bodyPr/>
        <a:lstStyle/>
        <a:p>
          <a:endParaRPr lang="en-ZA"/>
        </a:p>
      </dgm:t>
    </dgm:pt>
    <dgm:pt modelId="{B9881BBC-9339-40D4-AD61-CFE8F0B3A209}" type="sibTrans" cxnId="{ADA19635-615E-4319-AE06-3D76C574E36D}">
      <dgm:prSet/>
      <dgm:spPr/>
      <dgm:t>
        <a:bodyPr/>
        <a:lstStyle/>
        <a:p>
          <a:endParaRPr lang="en-ZA"/>
        </a:p>
      </dgm:t>
    </dgm:pt>
    <dgm:pt modelId="{3A76C522-2E5B-4240-AB3D-E6AFE367CACF}">
      <dgm:prSet phldrT="[Text]" custT="1"/>
      <dgm:spPr/>
      <dgm:t>
        <a:bodyPr/>
        <a:lstStyle/>
        <a:p>
          <a:r>
            <a:rPr lang="en-ZA" sz="2400" b="1" dirty="0"/>
            <a:t>Post data cleaning:</a:t>
          </a:r>
        </a:p>
        <a:p>
          <a:r>
            <a:rPr lang="en-ZA" sz="2400" b="0" dirty="0"/>
            <a:t>(45211 entries, 19 variables)</a:t>
          </a:r>
        </a:p>
      </dgm:t>
    </dgm:pt>
    <dgm:pt modelId="{A924E320-56B3-48E8-9ACB-B5E4A5ECEE6B}" type="parTrans" cxnId="{F0FD12B5-644C-47CD-84E7-EF1FF492572F}">
      <dgm:prSet/>
      <dgm:spPr/>
      <dgm:t>
        <a:bodyPr/>
        <a:lstStyle/>
        <a:p>
          <a:endParaRPr lang="en-ZA"/>
        </a:p>
      </dgm:t>
    </dgm:pt>
    <dgm:pt modelId="{4571D3D5-5449-43ED-B82E-1C0F3213F7BF}" type="sibTrans" cxnId="{F0FD12B5-644C-47CD-84E7-EF1FF492572F}">
      <dgm:prSet/>
      <dgm:spPr/>
      <dgm:t>
        <a:bodyPr/>
        <a:lstStyle/>
        <a:p>
          <a:endParaRPr lang="en-ZA"/>
        </a:p>
      </dgm:t>
    </dgm:pt>
    <dgm:pt modelId="{DE7FC3A1-4A59-4487-AB2A-A273B5326D5F}">
      <dgm:prSet phldrT="[Text]" custT="1"/>
      <dgm:spPr/>
      <dgm:t>
        <a:bodyPr/>
        <a:lstStyle/>
        <a:p>
          <a:pPr algn="ctr"/>
          <a:r>
            <a:rPr lang="en-ZA" sz="2400" b="1" dirty="0"/>
            <a:t>Post feature encoding:</a:t>
          </a:r>
        </a:p>
        <a:p>
          <a:pPr algn="ctr"/>
          <a:r>
            <a:rPr lang="en-ZA" sz="2400" b="0" dirty="0"/>
            <a:t>(45211 entries, 34 variables)</a:t>
          </a:r>
        </a:p>
      </dgm:t>
    </dgm:pt>
    <dgm:pt modelId="{BAE56BF2-FBF0-42AF-8783-AC9E9CA350B7}" type="parTrans" cxnId="{B8144861-621C-4733-A957-B23CCE1AA8AC}">
      <dgm:prSet/>
      <dgm:spPr/>
      <dgm:t>
        <a:bodyPr/>
        <a:lstStyle/>
        <a:p>
          <a:endParaRPr lang="en-ZA"/>
        </a:p>
      </dgm:t>
    </dgm:pt>
    <dgm:pt modelId="{6FFB22AF-0508-41DF-B8A1-EFA252A1089B}" type="sibTrans" cxnId="{B8144861-621C-4733-A957-B23CCE1AA8AC}">
      <dgm:prSet/>
      <dgm:spPr/>
      <dgm:t>
        <a:bodyPr/>
        <a:lstStyle/>
        <a:p>
          <a:endParaRPr lang="en-ZA"/>
        </a:p>
      </dgm:t>
    </dgm:pt>
    <dgm:pt modelId="{736B85A0-D5B5-4B96-9257-F0C68C2B195F}" type="pres">
      <dgm:prSet presAssocID="{2791222A-E5EB-4A85-AD78-874027C1DAF3}" presName="Name0" presStyleCnt="0">
        <dgm:presLayoutVars>
          <dgm:dir/>
          <dgm:resizeHandles val="exact"/>
        </dgm:presLayoutVars>
      </dgm:prSet>
      <dgm:spPr/>
    </dgm:pt>
    <dgm:pt modelId="{DB40F301-2103-4220-9971-68F5A0594295}" type="pres">
      <dgm:prSet presAssocID="{785CDA11-7756-42A2-8B3C-953424441869}" presName="composite" presStyleCnt="0"/>
      <dgm:spPr/>
    </dgm:pt>
    <dgm:pt modelId="{659F06F3-3F2C-41AD-8095-CA55F75A2AB7}" type="pres">
      <dgm:prSet presAssocID="{785CDA11-7756-42A2-8B3C-953424441869}" presName="bgChev" presStyleLbl="node1" presStyleIdx="0" presStyleCnt="3"/>
      <dgm:spPr/>
    </dgm:pt>
    <dgm:pt modelId="{1346429E-FBFF-4039-BF7D-1D7B2F1481AA}" type="pres">
      <dgm:prSet presAssocID="{785CDA11-7756-42A2-8B3C-953424441869}" presName="txNode" presStyleLbl="fgAcc1" presStyleIdx="0" presStyleCnt="3" custScaleX="123639">
        <dgm:presLayoutVars>
          <dgm:bulletEnabled val="1"/>
        </dgm:presLayoutVars>
      </dgm:prSet>
      <dgm:spPr/>
    </dgm:pt>
    <dgm:pt modelId="{D917A9F7-78CC-4C70-90FA-07FB41FB0006}" type="pres">
      <dgm:prSet presAssocID="{B9881BBC-9339-40D4-AD61-CFE8F0B3A209}" presName="compositeSpace" presStyleCnt="0"/>
      <dgm:spPr/>
    </dgm:pt>
    <dgm:pt modelId="{9B2702FC-EA79-4E86-9B18-46C3BDE97376}" type="pres">
      <dgm:prSet presAssocID="{3A76C522-2E5B-4240-AB3D-E6AFE367CACF}" presName="composite" presStyleCnt="0"/>
      <dgm:spPr/>
    </dgm:pt>
    <dgm:pt modelId="{65ECDC5D-EAE1-4E3E-A462-558E3F59B3BF}" type="pres">
      <dgm:prSet presAssocID="{3A76C522-2E5B-4240-AB3D-E6AFE367CACF}" presName="bgChev" presStyleLbl="node1" presStyleIdx="1" presStyleCnt="3"/>
      <dgm:spPr/>
    </dgm:pt>
    <dgm:pt modelId="{EA9050CE-339E-4784-9151-28BA012D7D26}" type="pres">
      <dgm:prSet presAssocID="{3A76C522-2E5B-4240-AB3D-E6AFE367CACF}" presName="txNode" presStyleLbl="fgAcc1" presStyleIdx="1" presStyleCnt="3" custScaleX="124917">
        <dgm:presLayoutVars>
          <dgm:bulletEnabled val="1"/>
        </dgm:presLayoutVars>
      </dgm:prSet>
      <dgm:spPr/>
    </dgm:pt>
    <dgm:pt modelId="{BD79F60B-D5D6-4A2E-A727-7370915551EB}" type="pres">
      <dgm:prSet presAssocID="{4571D3D5-5449-43ED-B82E-1C0F3213F7BF}" presName="compositeSpace" presStyleCnt="0"/>
      <dgm:spPr/>
    </dgm:pt>
    <dgm:pt modelId="{E7D6E8D2-35D4-49D8-B06A-43631F7CCDDB}" type="pres">
      <dgm:prSet presAssocID="{DE7FC3A1-4A59-4487-AB2A-A273B5326D5F}" presName="composite" presStyleCnt="0"/>
      <dgm:spPr/>
    </dgm:pt>
    <dgm:pt modelId="{F211E7F8-0898-4640-8057-7592BB2B30A4}" type="pres">
      <dgm:prSet presAssocID="{DE7FC3A1-4A59-4487-AB2A-A273B5326D5F}" presName="bgChev" presStyleLbl="node1" presStyleIdx="2" presStyleCnt="3"/>
      <dgm:spPr/>
    </dgm:pt>
    <dgm:pt modelId="{FBD70D8B-8E5F-4C99-B26D-50D81D602D64}" type="pres">
      <dgm:prSet presAssocID="{DE7FC3A1-4A59-4487-AB2A-A273B5326D5F}" presName="txNode" presStyleLbl="fgAcc1" presStyleIdx="2" presStyleCnt="3" custScaleX="144952">
        <dgm:presLayoutVars>
          <dgm:bulletEnabled val="1"/>
        </dgm:presLayoutVars>
      </dgm:prSet>
      <dgm:spPr/>
    </dgm:pt>
  </dgm:ptLst>
  <dgm:cxnLst>
    <dgm:cxn modelId="{EF4B572B-76DF-40C5-9734-0BB1E4D706E0}" type="presOf" srcId="{2791222A-E5EB-4A85-AD78-874027C1DAF3}" destId="{736B85A0-D5B5-4B96-9257-F0C68C2B195F}" srcOrd="0" destOrd="0" presId="urn:microsoft.com/office/officeart/2005/8/layout/chevronAccent+Icon"/>
    <dgm:cxn modelId="{ADA19635-615E-4319-AE06-3D76C574E36D}" srcId="{2791222A-E5EB-4A85-AD78-874027C1DAF3}" destId="{785CDA11-7756-42A2-8B3C-953424441869}" srcOrd="0" destOrd="0" parTransId="{FFF5A160-EB0B-4550-85AB-286BF708E36B}" sibTransId="{B9881BBC-9339-40D4-AD61-CFE8F0B3A209}"/>
    <dgm:cxn modelId="{B8144861-621C-4733-A957-B23CCE1AA8AC}" srcId="{2791222A-E5EB-4A85-AD78-874027C1DAF3}" destId="{DE7FC3A1-4A59-4487-AB2A-A273B5326D5F}" srcOrd="2" destOrd="0" parTransId="{BAE56BF2-FBF0-42AF-8783-AC9E9CA350B7}" sibTransId="{6FFB22AF-0508-41DF-B8A1-EFA252A1089B}"/>
    <dgm:cxn modelId="{193DF264-DF12-4884-BE30-2B70413A7464}" type="presOf" srcId="{785CDA11-7756-42A2-8B3C-953424441869}" destId="{1346429E-FBFF-4039-BF7D-1D7B2F1481AA}" srcOrd="0" destOrd="0" presId="urn:microsoft.com/office/officeart/2005/8/layout/chevronAccent+Icon"/>
    <dgm:cxn modelId="{A1283E73-DD71-47A1-BA49-42A0DE8AB66C}" type="presOf" srcId="{3A76C522-2E5B-4240-AB3D-E6AFE367CACF}" destId="{EA9050CE-339E-4784-9151-28BA012D7D26}" srcOrd="0" destOrd="0" presId="urn:microsoft.com/office/officeart/2005/8/layout/chevronAccent+Icon"/>
    <dgm:cxn modelId="{7E40AFA3-3E88-4925-8AE5-B08EC59DCD05}" type="presOf" srcId="{DE7FC3A1-4A59-4487-AB2A-A273B5326D5F}" destId="{FBD70D8B-8E5F-4C99-B26D-50D81D602D64}" srcOrd="0" destOrd="0" presId="urn:microsoft.com/office/officeart/2005/8/layout/chevronAccent+Icon"/>
    <dgm:cxn modelId="{F0FD12B5-644C-47CD-84E7-EF1FF492572F}" srcId="{2791222A-E5EB-4A85-AD78-874027C1DAF3}" destId="{3A76C522-2E5B-4240-AB3D-E6AFE367CACF}" srcOrd="1" destOrd="0" parTransId="{A924E320-56B3-48E8-9ACB-B5E4A5ECEE6B}" sibTransId="{4571D3D5-5449-43ED-B82E-1C0F3213F7BF}"/>
    <dgm:cxn modelId="{94AE7410-7C20-4975-B323-1902FB3A77A7}" type="presParOf" srcId="{736B85A0-D5B5-4B96-9257-F0C68C2B195F}" destId="{DB40F301-2103-4220-9971-68F5A0594295}" srcOrd="0" destOrd="0" presId="urn:microsoft.com/office/officeart/2005/8/layout/chevronAccent+Icon"/>
    <dgm:cxn modelId="{AABC64A5-01FD-499E-89AF-E41F205263AC}" type="presParOf" srcId="{DB40F301-2103-4220-9971-68F5A0594295}" destId="{659F06F3-3F2C-41AD-8095-CA55F75A2AB7}" srcOrd="0" destOrd="0" presId="urn:microsoft.com/office/officeart/2005/8/layout/chevronAccent+Icon"/>
    <dgm:cxn modelId="{7BE3B0F5-594D-4E93-8AC8-312C75E6E800}" type="presParOf" srcId="{DB40F301-2103-4220-9971-68F5A0594295}" destId="{1346429E-FBFF-4039-BF7D-1D7B2F1481AA}" srcOrd="1" destOrd="0" presId="urn:microsoft.com/office/officeart/2005/8/layout/chevronAccent+Icon"/>
    <dgm:cxn modelId="{85F77EAB-5E51-4E3C-B8FF-2683547B47EE}" type="presParOf" srcId="{736B85A0-D5B5-4B96-9257-F0C68C2B195F}" destId="{D917A9F7-78CC-4C70-90FA-07FB41FB0006}" srcOrd="1" destOrd="0" presId="urn:microsoft.com/office/officeart/2005/8/layout/chevronAccent+Icon"/>
    <dgm:cxn modelId="{B2CC2237-DC82-4493-ABA0-E99683791A16}" type="presParOf" srcId="{736B85A0-D5B5-4B96-9257-F0C68C2B195F}" destId="{9B2702FC-EA79-4E86-9B18-46C3BDE97376}" srcOrd="2" destOrd="0" presId="urn:microsoft.com/office/officeart/2005/8/layout/chevronAccent+Icon"/>
    <dgm:cxn modelId="{A5983F82-B28F-4D4F-BB52-8483001AA460}" type="presParOf" srcId="{9B2702FC-EA79-4E86-9B18-46C3BDE97376}" destId="{65ECDC5D-EAE1-4E3E-A462-558E3F59B3BF}" srcOrd="0" destOrd="0" presId="urn:microsoft.com/office/officeart/2005/8/layout/chevronAccent+Icon"/>
    <dgm:cxn modelId="{B32A82B3-AD2B-413F-9D33-837E990B591D}" type="presParOf" srcId="{9B2702FC-EA79-4E86-9B18-46C3BDE97376}" destId="{EA9050CE-339E-4784-9151-28BA012D7D26}" srcOrd="1" destOrd="0" presId="urn:microsoft.com/office/officeart/2005/8/layout/chevronAccent+Icon"/>
    <dgm:cxn modelId="{3B51FC0E-CCEA-419C-8DE0-BD1A23ED2F07}" type="presParOf" srcId="{736B85A0-D5B5-4B96-9257-F0C68C2B195F}" destId="{BD79F60B-D5D6-4A2E-A727-7370915551EB}" srcOrd="3" destOrd="0" presId="urn:microsoft.com/office/officeart/2005/8/layout/chevronAccent+Icon"/>
    <dgm:cxn modelId="{C461424F-6C0B-47A5-A786-06FACE58FD5D}" type="presParOf" srcId="{736B85A0-D5B5-4B96-9257-F0C68C2B195F}" destId="{E7D6E8D2-35D4-49D8-B06A-43631F7CCDDB}" srcOrd="4" destOrd="0" presId="urn:microsoft.com/office/officeart/2005/8/layout/chevronAccent+Icon"/>
    <dgm:cxn modelId="{F783077B-337C-4DB7-A1C4-99E276003260}" type="presParOf" srcId="{E7D6E8D2-35D4-49D8-B06A-43631F7CCDDB}" destId="{F211E7F8-0898-4640-8057-7592BB2B30A4}" srcOrd="0" destOrd="0" presId="urn:microsoft.com/office/officeart/2005/8/layout/chevronAccent+Icon"/>
    <dgm:cxn modelId="{721FB3F5-0A06-4FCB-A5A4-107AE7FFD481}" type="presParOf" srcId="{E7D6E8D2-35D4-49D8-B06A-43631F7CCDDB}" destId="{FBD70D8B-8E5F-4C99-B26D-50D81D602D64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485E6D-F726-493D-B851-D19541F02EF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CE74B5-EA15-41ED-B749-8E4177F7AE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ZA" sz="2400" b="1" dirty="0"/>
            <a:t>Model Performance</a:t>
          </a:r>
          <a:r>
            <a:rPr lang="en-ZA" sz="2400" dirty="0"/>
            <a:t>: Logistic regression outperforms the decision tree with a ROC AUC score of 89% and 82% accuracy, compared to the decision tree's 83% ROC AUC and 79% accuracy</a:t>
          </a:r>
          <a:r>
            <a:rPr lang="en-ZA" sz="1100" dirty="0"/>
            <a:t>.</a:t>
          </a:r>
          <a:endParaRPr lang="en-US" sz="1100" dirty="0"/>
        </a:p>
      </dgm:t>
    </dgm:pt>
    <dgm:pt modelId="{0E2B4634-712F-4E91-B976-AD83C759005B}" type="parTrans" cxnId="{BB04A279-D9C2-4E46-9056-F990AA6EEFC0}">
      <dgm:prSet/>
      <dgm:spPr/>
      <dgm:t>
        <a:bodyPr/>
        <a:lstStyle/>
        <a:p>
          <a:endParaRPr lang="en-US"/>
        </a:p>
      </dgm:t>
    </dgm:pt>
    <dgm:pt modelId="{F88DFF09-1955-4419-B766-1919FC2A41CC}" type="sibTrans" cxnId="{BB04A279-D9C2-4E46-9056-F990AA6EEFC0}">
      <dgm:prSet/>
      <dgm:spPr/>
      <dgm:t>
        <a:bodyPr/>
        <a:lstStyle/>
        <a:p>
          <a:endParaRPr lang="en-US"/>
        </a:p>
      </dgm:t>
    </dgm:pt>
    <dgm:pt modelId="{E7780439-AA95-4355-B09B-09561BC2139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ZA" sz="2400" b="1" dirty="0"/>
            <a:t>Generalization</a:t>
          </a:r>
          <a:r>
            <a:rPr lang="en-ZA" sz="2400" dirty="0"/>
            <a:t>: Logistic regression has better generalization on unseen data due to its ability to capture linear relationship.</a:t>
          </a:r>
          <a:endParaRPr lang="en-US" sz="2400" dirty="0"/>
        </a:p>
      </dgm:t>
    </dgm:pt>
    <dgm:pt modelId="{B0E5BBB1-52F1-45E0-AF46-A3B619814FD0}" type="parTrans" cxnId="{FCF37779-61B9-45BA-A7F8-EE471A87F102}">
      <dgm:prSet/>
      <dgm:spPr/>
      <dgm:t>
        <a:bodyPr/>
        <a:lstStyle/>
        <a:p>
          <a:endParaRPr lang="en-US"/>
        </a:p>
      </dgm:t>
    </dgm:pt>
    <dgm:pt modelId="{1DF4D9B9-E7C8-4AEB-85DE-A6A4C5BDE7A0}" type="sibTrans" cxnId="{FCF37779-61B9-45BA-A7F8-EE471A87F102}">
      <dgm:prSet/>
      <dgm:spPr/>
      <dgm:t>
        <a:bodyPr/>
        <a:lstStyle/>
        <a:p>
          <a:endParaRPr lang="en-US"/>
        </a:p>
      </dgm:t>
    </dgm:pt>
    <dgm:pt modelId="{027FCFFA-C689-4A69-A051-93536DF282A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ZA" sz="2000" b="1" dirty="0"/>
            <a:t>Interpretability</a:t>
          </a:r>
          <a:r>
            <a:rPr lang="en-ZA" sz="2000" dirty="0"/>
            <a:t>: </a:t>
          </a:r>
          <a:r>
            <a:rPr lang="en-ZA" sz="2400" dirty="0"/>
            <a:t>Logistic regression provides interpretable coefficients, while decision trees become more complex and harder to interpret as they grow deeper.</a:t>
          </a:r>
          <a:endParaRPr lang="en-US" sz="2000" dirty="0"/>
        </a:p>
      </dgm:t>
    </dgm:pt>
    <dgm:pt modelId="{8404A5B3-80AE-494C-807F-8841C1523B45}" type="parTrans" cxnId="{7CAB1F37-81EE-4135-9827-9DA60CBBAE76}">
      <dgm:prSet/>
      <dgm:spPr/>
      <dgm:t>
        <a:bodyPr/>
        <a:lstStyle/>
        <a:p>
          <a:endParaRPr lang="en-US"/>
        </a:p>
      </dgm:t>
    </dgm:pt>
    <dgm:pt modelId="{1A9DA851-3C20-467C-B367-0EF45D774222}" type="sibTrans" cxnId="{7CAB1F37-81EE-4135-9827-9DA60CBBAE76}">
      <dgm:prSet/>
      <dgm:spPr/>
      <dgm:t>
        <a:bodyPr/>
        <a:lstStyle/>
        <a:p>
          <a:endParaRPr lang="en-US"/>
        </a:p>
      </dgm:t>
    </dgm:pt>
    <dgm:pt modelId="{139DF967-9C86-4EFF-A9E3-32A849019D7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ZA" sz="2400" dirty="0"/>
            <a:t>Logistic regression excels in predictive power and maintains a balance between generalization and interpretability.</a:t>
          </a:r>
          <a:br>
            <a:rPr lang="en-ZA" sz="1200" dirty="0"/>
          </a:br>
          <a:br>
            <a:rPr lang="en-ZA" sz="1200" dirty="0"/>
          </a:br>
          <a:br>
            <a:rPr lang="en-ZA" sz="1100" dirty="0"/>
          </a:br>
          <a:br>
            <a:rPr lang="en-ZA" sz="1100" dirty="0"/>
          </a:br>
          <a:endParaRPr lang="en-US" sz="1100" dirty="0"/>
        </a:p>
      </dgm:t>
    </dgm:pt>
    <dgm:pt modelId="{F58D3877-FB22-4B4D-A059-CE89FE325BC2}" type="parTrans" cxnId="{0B423083-AE46-48D5-98FD-A533CFC8FAC9}">
      <dgm:prSet/>
      <dgm:spPr/>
      <dgm:t>
        <a:bodyPr/>
        <a:lstStyle/>
        <a:p>
          <a:endParaRPr lang="en-US"/>
        </a:p>
      </dgm:t>
    </dgm:pt>
    <dgm:pt modelId="{56229856-E99F-4CE7-8911-9F4E0C672025}" type="sibTrans" cxnId="{0B423083-AE46-48D5-98FD-A533CFC8FAC9}">
      <dgm:prSet/>
      <dgm:spPr/>
      <dgm:t>
        <a:bodyPr/>
        <a:lstStyle/>
        <a:p>
          <a:endParaRPr lang="en-US"/>
        </a:p>
      </dgm:t>
    </dgm:pt>
    <dgm:pt modelId="{D2D09BEE-26F5-4EDE-9D23-F7AE2FACDE6D}" type="pres">
      <dgm:prSet presAssocID="{39485E6D-F726-493D-B851-D19541F02EF8}" presName="root" presStyleCnt="0">
        <dgm:presLayoutVars>
          <dgm:dir/>
          <dgm:resizeHandles val="exact"/>
        </dgm:presLayoutVars>
      </dgm:prSet>
      <dgm:spPr/>
    </dgm:pt>
    <dgm:pt modelId="{CA9DA6D4-7E56-4742-B9F5-A38E90458E4E}" type="pres">
      <dgm:prSet presAssocID="{D1CE74B5-EA15-41ED-B749-8E4177F7AE26}" presName="compNode" presStyleCnt="0"/>
      <dgm:spPr/>
    </dgm:pt>
    <dgm:pt modelId="{0F3BD919-C8BE-4C0D-B120-FD4478401C08}" type="pres">
      <dgm:prSet presAssocID="{D1CE74B5-EA15-41ED-B749-8E4177F7AE26}" presName="iconRect" presStyleLbl="node1" presStyleIdx="0" presStyleCnt="4" custScaleX="356589" custScaleY="230105" custLinFactNeighborX="-9243" custLinFactNeighborY="-6007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81A83E97-E68C-40EB-B29B-56FF84A9A537}" type="pres">
      <dgm:prSet presAssocID="{D1CE74B5-EA15-41ED-B749-8E4177F7AE26}" presName="spaceRect" presStyleCnt="0"/>
      <dgm:spPr/>
    </dgm:pt>
    <dgm:pt modelId="{074B2027-E3EA-45D5-A5B0-49A6E1B5AAFC}" type="pres">
      <dgm:prSet presAssocID="{D1CE74B5-EA15-41ED-B749-8E4177F7AE26}" presName="textRect" presStyleLbl="revTx" presStyleIdx="0" presStyleCnt="4" custScaleX="240438">
        <dgm:presLayoutVars>
          <dgm:chMax val="1"/>
          <dgm:chPref val="1"/>
        </dgm:presLayoutVars>
      </dgm:prSet>
      <dgm:spPr/>
    </dgm:pt>
    <dgm:pt modelId="{D09788B0-736C-494B-AB06-F83C295C5928}" type="pres">
      <dgm:prSet presAssocID="{F88DFF09-1955-4419-B766-1919FC2A41CC}" presName="sibTrans" presStyleCnt="0"/>
      <dgm:spPr/>
    </dgm:pt>
    <dgm:pt modelId="{9FFC5F69-8218-4023-8428-8C11FF06653F}" type="pres">
      <dgm:prSet presAssocID="{E7780439-AA95-4355-B09B-09561BC2139A}" presName="compNode" presStyleCnt="0"/>
      <dgm:spPr/>
    </dgm:pt>
    <dgm:pt modelId="{2648245F-A05D-45DA-A428-10C33D383E6B}" type="pres">
      <dgm:prSet presAssocID="{E7780439-AA95-4355-B09B-09561BC2139A}" presName="iconRect" presStyleLbl="node1" presStyleIdx="1" presStyleCnt="4" custScaleX="373803" custScaleY="313872" custLinFactNeighborX="11553" custLinFactNeighborY="-7758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CA13059-9C0B-4F3C-B901-BD251DF2C4A5}" type="pres">
      <dgm:prSet presAssocID="{E7780439-AA95-4355-B09B-09561BC2139A}" presName="spaceRect" presStyleCnt="0"/>
      <dgm:spPr/>
    </dgm:pt>
    <dgm:pt modelId="{48333651-F47B-457D-9DF2-3EC69FCAE060}" type="pres">
      <dgm:prSet presAssocID="{E7780439-AA95-4355-B09B-09561BC2139A}" presName="textRect" presStyleLbl="revTx" presStyleIdx="1" presStyleCnt="4" custScaleX="188850">
        <dgm:presLayoutVars>
          <dgm:chMax val="1"/>
          <dgm:chPref val="1"/>
        </dgm:presLayoutVars>
      </dgm:prSet>
      <dgm:spPr/>
    </dgm:pt>
    <dgm:pt modelId="{CBAEE665-58B6-40CA-8C5B-1F5634F9F9CC}" type="pres">
      <dgm:prSet presAssocID="{1DF4D9B9-E7C8-4AEB-85DE-A6A4C5BDE7A0}" presName="sibTrans" presStyleCnt="0"/>
      <dgm:spPr/>
    </dgm:pt>
    <dgm:pt modelId="{47F04724-92E7-47D5-8AAF-B3D29E0418F6}" type="pres">
      <dgm:prSet presAssocID="{027FCFFA-C689-4A69-A051-93536DF282A6}" presName="compNode" presStyleCnt="0"/>
      <dgm:spPr/>
    </dgm:pt>
    <dgm:pt modelId="{D26BFA23-93A8-4FBF-A5EF-9E23EBD67E88}" type="pres">
      <dgm:prSet presAssocID="{027FCFFA-C689-4A69-A051-93536DF282A6}" presName="iconRect" presStyleLbl="node1" presStyleIdx="2" presStyleCnt="4" custScaleX="254735" custScaleY="317010" custLinFactNeighborX="6932" custLinFactNeighborY="-7625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D7535D7E-8E7F-43FB-A72F-91B6DBCC820C}" type="pres">
      <dgm:prSet presAssocID="{027FCFFA-C689-4A69-A051-93536DF282A6}" presName="spaceRect" presStyleCnt="0"/>
      <dgm:spPr/>
    </dgm:pt>
    <dgm:pt modelId="{106E32EB-775F-41D8-A988-00B5BDDCD10B}" type="pres">
      <dgm:prSet presAssocID="{027FCFFA-C689-4A69-A051-93536DF282A6}" presName="textRect" presStyleLbl="revTx" presStyleIdx="2" presStyleCnt="4" custScaleX="216540">
        <dgm:presLayoutVars>
          <dgm:chMax val="1"/>
          <dgm:chPref val="1"/>
        </dgm:presLayoutVars>
      </dgm:prSet>
      <dgm:spPr/>
    </dgm:pt>
    <dgm:pt modelId="{20067DED-54E2-4B8B-8A07-D96A6D12C9A3}" type="pres">
      <dgm:prSet presAssocID="{1A9DA851-3C20-467C-B367-0EF45D774222}" presName="sibTrans" presStyleCnt="0"/>
      <dgm:spPr/>
    </dgm:pt>
    <dgm:pt modelId="{C75C1887-9982-4A95-A271-1B2D08B27452}" type="pres">
      <dgm:prSet presAssocID="{139DF967-9C86-4EFF-A9E3-32A849019D73}" presName="compNode" presStyleCnt="0"/>
      <dgm:spPr/>
    </dgm:pt>
    <dgm:pt modelId="{D4B1E6B0-B407-4512-9E3B-0DDC87F2212D}" type="pres">
      <dgm:prSet presAssocID="{139DF967-9C86-4EFF-A9E3-32A849019D73}" presName="iconRect" presStyleLbl="node1" presStyleIdx="3" presStyleCnt="4" custScaleX="298274" custScaleY="280940" custLinFactNeighborX="39281" custLinFactNeighborY="-5288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A368E78C-C7AE-4504-8252-36630583ADF9}" type="pres">
      <dgm:prSet presAssocID="{139DF967-9C86-4EFF-A9E3-32A849019D73}" presName="spaceRect" presStyleCnt="0"/>
      <dgm:spPr/>
    </dgm:pt>
    <dgm:pt modelId="{097F4BE4-4DF2-4F64-AEEC-95AD219E8D81}" type="pres">
      <dgm:prSet presAssocID="{139DF967-9C86-4EFF-A9E3-32A849019D73}" presName="textRect" presStyleLbl="revTx" presStyleIdx="3" presStyleCnt="4" custScaleX="206371">
        <dgm:presLayoutVars>
          <dgm:chMax val="1"/>
          <dgm:chPref val="1"/>
        </dgm:presLayoutVars>
      </dgm:prSet>
      <dgm:spPr/>
    </dgm:pt>
  </dgm:ptLst>
  <dgm:cxnLst>
    <dgm:cxn modelId="{AC5C6922-5F99-4C8E-8FAC-1B02DA30E612}" type="presOf" srcId="{39485E6D-F726-493D-B851-D19541F02EF8}" destId="{D2D09BEE-26F5-4EDE-9D23-F7AE2FACDE6D}" srcOrd="0" destOrd="0" presId="urn:microsoft.com/office/officeart/2018/2/layout/IconLabelList"/>
    <dgm:cxn modelId="{C0E14A33-BB96-4A10-936C-EB5893CCD19A}" type="presOf" srcId="{E7780439-AA95-4355-B09B-09561BC2139A}" destId="{48333651-F47B-457D-9DF2-3EC69FCAE060}" srcOrd="0" destOrd="0" presId="urn:microsoft.com/office/officeart/2018/2/layout/IconLabelList"/>
    <dgm:cxn modelId="{7CAB1F37-81EE-4135-9827-9DA60CBBAE76}" srcId="{39485E6D-F726-493D-B851-D19541F02EF8}" destId="{027FCFFA-C689-4A69-A051-93536DF282A6}" srcOrd="2" destOrd="0" parTransId="{8404A5B3-80AE-494C-807F-8841C1523B45}" sibTransId="{1A9DA851-3C20-467C-B367-0EF45D774222}"/>
    <dgm:cxn modelId="{83E8E667-6C24-44C6-A415-C65AA733BE8D}" type="presOf" srcId="{027FCFFA-C689-4A69-A051-93536DF282A6}" destId="{106E32EB-775F-41D8-A988-00B5BDDCD10B}" srcOrd="0" destOrd="0" presId="urn:microsoft.com/office/officeart/2018/2/layout/IconLabelList"/>
    <dgm:cxn modelId="{2B455673-343A-4DA9-BBB8-0873CB75317A}" type="presOf" srcId="{D1CE74B5-EA15-41ED-B749-8E4177F7AE26}" destId="{074B2027-E3EA-45D5-A5B0-49A6E1B5AAFC}" srcOrd="0" destOrd="0" presId="urn:microsoft.com/office/officeart/2018/2/layout/IconLabelList"/>
    <dgm:cxn modelId="{FCF37779-61B9-45BA-A7F8-EE471A87F102}" srcId="{39485E6D-F726-493D-B851-D19541F02EF8}" destId="{E7780439-AA95-4355-B09B-09561BC2139A}" srcOrd="1" destOrd="0" parTransId="{B0E5BBB1-52F1-45E0-AF46-A3B619814FD0}" sibTransId="{1DF4D9B9-E7C8-4AEB-85DE-A6A4C5BDE7A0}"/>
    <dgm:cxn modelId="{BB04A279-D9C2-4E46-9056-F990AA6EEFC0}" srcId="{39485E6D-F726-493D-B851-D19541F02EF8}" destId="{D1CE74B5-EA15-41ED-B749-8E4177F7AE26}" srcOrd="0" destOrd="0" parTransId="{0E2B4634-712F-4E91-B976-AD83C759005B}" sibTransId="{F88DFF09-1955-4419-B766-1919FC2A41CC}"/>
    <dgm:cxn modelId="{0B423083-AE46-48D5-98FD-A533CFC8FAC9}" srcId="{39485E6D-F726-493D-B851-D19541F02EF8}" destId="{139DF967-9C86-4EFF-A9E3-32A849019D73}" srcOrd="3" destOrd="0" parTransId="{F58D3877-FB22-4B4D-A059-CE89FE325BC2}" sibTransId="{56229856-E99F-4CE7-8911-9F4E0C672025}"/>
    <dgm:cxn modelId="{FE66B09D-036D-4145-87B4-737A55E6D4BE}" type="presOf" srcId="{139DF967-9C86-4EFF-A9E3-32A849019D73}" destId="{097F4BE4-4DF2-4F64-AEEC-95AD219E8D81}" srcOrd="0" destOrd="0" presId="urn:microsoft.com/office/officeart/2018/2/layout/IconLabelList"/>
    <dgm:cxn modelId="{64BFA7BD-AA89-4724-BE11-CDB4856ACFA7}" type="presParOf" srcId="{D2D09BEE-26F5-4EDE-9D23-F7AE2FACDE6D}" destId="{CA9DA6D4-7E56-4742-B9F5-A38E90458E4E}" srcOrd="0" destOrd="0" presId="urn:microsoft.com/office/officeart/2018/2/layout/IconLabelList"/>
    <dgm:cxn modelId="{63743614-91A2-4B33-A91B-D8E64156F9DD}" type="presParOf" srcId="{CA9DA6D4-7E56-4742-B9F5-A38E90458E4E}" destId="{0F3BD919-C8BE-4C0D-B120-FD4478401C08}" srcOrd="0" destOrd="0" presId="urn:microsoft.com/office/officeart/2018/2/layout/IconLabelList"/>
    <dgm:cxn modelId="{AE64EBA5-2FF4-4805-9DCE-63F27AB0CAFB}" type="presParOf" srcId="{CA9DA6D4-7E56-4742-B9F5-A38E90458E4E}" destId="{81A83E97-E68C-40EB-B29B-56FF84A9A537}" srcOrd="1" destOrd="0" presId="urn:microsoft.com/office/officeart/2018/2/layout/IconLabelList"/>
    <dgm:cxn modelId="{7EC6AC58-1C2C-407F-A99A-12875628F75A}" type="presParOf" srcId="{CA9DA6D4-7E56-4742-B9F5-A38E90458E4E}" destId="{074B2027-E3EA-45D5-A5B0-49A6E1B5AAFC}" srcOrd="2" destOrd="0" presId="urn:microsoft.com/office/officeart/2018/2/layout/IconLabelList"/>
    <dgm:cxn modelId="{7F689FA8-882D-4909-ACD4-D08469C2DF10}" type="presParOf" srcId="{D2D09BEE-26F5-4EDE-9D23-F7AE2FACDE6D}" destId="{D09788B0-736C-494B-AB06-F83C295C5928}" srcOrd="1" destOrd="0" presId="urn:microsoft.com/office/officeart/2018/2/layout/IconLabelList"/>
    <dgm:cxn modelId="{C520E99F-1333-4DCC-8650-087A130BE3CB}" type="presParOf" srcId="{D2D09BEE-26F5-4EDE-9D23-F7AE2FACDE6D}" destId="{9FFC5F69-8218-4023-8428-8C11FF06653F}" srcOrd="2" destOrd="0" presId="urn:microsoft.com/office/officeart/2018/2/layout/IconLabelList"/>
    <dgm:cxn modelId="{51FD4018-CA6E-46AF-9B3C-B47C278962E2}" type="presParOf" srcId="{9FFC5F69-8218-4023-8428-8C11FF06653F}" destId="{2648245F-A05D-45DA-A428-10C33D383E6B}" srcOrd="0" destOrd="0" presId="urn:microsoft.com/office/officeart/2018/2/layout/IconLabelList"/>
    <dgm:cxn modelId="{C92F5472-1CBA-46AF-AB39-7F152945BB78}" type="presParOf" srcId="{9FFC5F69-8218-4023-8428-8C11FF06653F}" destId="{BCA13059-9C0B-4F3C-B901-BD251DF2C4A5}" srcOrd="1" destOrd="0" presId="urn:microsoft.com/office/officeart/2018/2/layout/IconLabelList"/>
    <dgm:cxn modelId="{B4D02B4A-D793-4E1B-9505-6EE857AC6DC3}" type="presParOf" srcId="{9FFC5F69-8218-4023-8428-8C11FF06653F}" destId="{48333651-F47B-457D-9DF2-3EC69FCAE060}" srcOrd="2" destOrd="0" presId="urn:microsoft.com/office/officeart/2018/2/layout/IconLabelList"/>
    <dgm:cxn modelId="{9111346B-F463-44E3-9490-D558EB31B2D2}" type="presParOf" srcId="{D2D09BEE-26F5-4EDE-9D23-F7AE2FACDE6D}" destId="{CBAEE665-58B6-40CA-8C5B-1F5634F9F9CC}" srcOrd="3" destOrd="0" presId="urn:microsoft.com/office/officeart/2018/2/layout/IconLabelList"/>
    <dgm:cxn modelId="{585E48ED-7652-4256-829A-7917526274CE}" type="presParOf" srcId="{D2D09BEE-26F5-4EDE-9D23-F7AE2FACDE6D}" destId="{47F04724-92E7-47D5-8AAF-B3D29E0418F6}" srcOrd="4" destOrd="0" presId="urn:microsoft.com/office/officeart/2018/2/layout/IconLabelList"/>
    <dgm:cxn modelId="{C65ACC18-8D0B-4067-9F5A-E81BE012D51E}" type="presParOf" srcId="{47F04724-92E7-47D5-8AAF-B3D29E0418F6}" destId="{D26BFA23-93A8-4FBF-A5EF-9E23EBD67E88}" srcOrd="0" destOrd="0" presId="urn:microsoft.com/office/officeart/2018/2/layout/IconLabelList"/>
    <dgm:cxn modelId="{34E7C0F2-F358-4410-A485-CE7A83698931}" type="presParOf" srcId="{47F04724-92E7-47D5-8AAF-B3D29E0418F6}" destId="{D7535D7E-8E7F-43FB-A72F-91B6DBCC820C}" srcOrd="1" destOrd="0" presId="urn:microsoft.com/office/officeart/2018/2/layout/IconLabelList"/>
    <dgm:cxn modelId="{50ECE863-24DD-4D88-93C2-7EB2F72E1AD5}" type="presParOf" srcId="{47F04724-92E7-47D5-8AAF-B3D29E0418F6}" destId="{106E32EB-775F-41D8-A988-00B5BDDCD10B}" srcOrd="2" destOrd="0" presId="urn:microsoft.com/office/officeart/2018/2/layout/IconLabelList"/>
    <dgm:cxn modelId="{CF2AF181-F1E2-47D1-A5A0-2EDDE1497E48}" type="presParOf" srcId="{D2D09BEE-26F5-4EDE-9D23-F7AE2FACDE6D}" destId="{20067DED-54E2-4B8B-8A07-D96A6D12C9A3}" srcOrd="5" destOrd="0" presId="urn:microsoft.com/office/officeart/2018/2/layout/IconLabelList"/>
    <dgm:cxn modelId="{B84FBDB8-7218-4258-B181-12C8E9996B73}" type="presParOf" srcId="{D2D09BEE-26F5-4EDE-9D23-F7AE2FACDE6D}" destId="{C75C1887-9982-4A95-A271-1B2D08B27452}" srcOrd="6" destOrd="0" presId="urn:microsoft.com/office/officeart/2018/2/layout/IconLabelList"/>
    <dgm:cxn modelId="{30969124-3D14-4FEC-9267-CB34298E56AB}" type="presParOf" srcId="{C75C1887-9982-4A95-A271-1B2D08B27452}" destId="{D4B1E6B0-B407-4512-9E3B-0DDC87F2212D}" srcOrd="0" destOrd="0" presId="urn:microsoft.com/office/officeart/2018/2/layout/IconLabelList"/>
    <dgm:cxn modelId="{B91FE929-BB5B-4857-97AA-B7F6673BB5AA}" type="presParOf" srcId="{C75C1887-9982-4A95-A271-1B2D08B27452}" destId="{A368E78C-C7AE-4504-8252-36630583ADF9}" srcOrd="1" destOrd="0" presId="urn:microsoft.com/office/officeart/2018/2/layout/IconLabelList"/>
    <dgm:cxn modelId="{3D34BFD5-FB84-4665-8F3A-C2A5327E51C8}" type="presParOf" srcId="{C75C1887-9982-4A95-A271-1B2D08B27452}" destId="{097F4BE4-4DF2-4F64-AEEC-95AD219E8D8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5927854-11BD-4FB1-8786-8E34BCB4E16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742622-3652-4DA4-A5D8-6DDF21F9152D}">
      <dgm:prSet custT="1"/>
      <dgm:spPr/>
      <dgm:t>
        <a:bodyPr/>
        <a:lstStyle/>
        <a:p>
          <a:pPr algn="l"/>
          <a:r>
            <a:rPr lang="en-ZA" sz="2600" b="1" dirty="0"/>
            <a:t>Model Comparison</a:t>
          </a:r>
          <a:r>
            <a:rPr lang="en-ZA" sz="2600" dirty="0"/>
            <a:t>: Logistic regression outperformed the decision tree.</a:t>
          </a:r>
          <a:endParaRPr lang="en-US" sz="2600" dirty="0"/>
        </a:p>
      </dgm:t>
    </dgm:pt>
    <dgm:pt modelId="{B10E0D52-7B2B-4794-9E50-E07C82441E8B}" type="parTrans" cxnId="{A912BF5B-086B-41D1-AECB-3F7D64FBF97B}">
      <dgm:prSet/>
      <dgm:spPr/>
      <dgm:t>
        <a:bodyPr/>
        <a:lstStyle/>
        <a:p>
          <a:endParaRPr lang="en-US"/>
        </a:p>
      </dgm:t>
    </dgm:pt>
    <dgm:pt modelId="{15CA1DC2-AD5F-4AFA-A342-B0AFF4DCC5E1}" type="sibTrans" cxnId="{A912BF5B-086B-41D1-AECB-3F7D64FBF97B}">
      <dgm:prSet/>
      <dgm:spPr/>
      <dgm:t>
        <a:bodyPr/>
        <a:lstStyle/>
        <a:p>
          <a:endParaRPr lang="en-US"/>
        </a:p>
      </dgm:t>
    </dgm:pt>
    <dgm:pt modelId="{4451A8F5-A344-4CC7-86BC-5AACD385A9DB}">
      <dgm:prSet custT="1"/>
      <dgm:spPr/>
      <dgm:t>
        <a:bodyPr/>
        <a:lstStyle/>
        <a:p>
          <a:pPr algn="l"/>
          <a:r>
            <a:rPr lang="en-ZA" sz="2600" b="1" kern="1200" dirty="0"/>
            <a:t>Key Predictors</a:t>
          </a:r>
          <a:r>
            <a:rPr lang="en-ZA" sz="2600" kern="1200" dirty="0"/>
            <a:t>: Contact time, previous successful campaigns, and contact type are important factors in predicting deposit acceptance.</a:t>
          </a:r>
          <a:endParaRPr 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F1699509-DAA0-492C-A023-3CF05A1B6E86}" type="parTrans" cxnId="{6C0B6998-79AE-4B01-9757-69C104318E75}">
      <dgm:prSet/>
      <dgm:spPr/>
      <dgm:t>
        <a:bodyPr/>
        <a:lstStyle/>
        <a:p>
          <a:endParaRPr lang="en-US"/>
        </a:p>
      </dgm:t>
    </dgm:pt>
    <dgm:pt modelId="{8A15ECD5-0A63-4447-A9B8-BD1B56B6CE03}" type="sibTrans" cxnId="{6C0B6998-79AE-4B01-9757-69C104318E75}">
      <dgm:prSet/>
      <dgm:spPr/>
      <dgm:t>
        <a:bodyPr/>
        <a:lstStyle/>
        <a:p>
          <a:endParaRPr lang="en-US"/>
        </a:p>
      </dgm:t>
    </dgm:pt>
    <dgm:pt modelId="{79FC93EB-00DA-45CD-8C32-4CB6D71A16C1}">
      <dgm:prSet custT="1"/>
      <dgm:spPr/>
      <dgm:t>
        <a:bodyPr/>
        <a:lstStyle/>
        <a:p>
          <a:pPr algn="l"/>
          <a:r>
            <a:rPr lang="en-ZA" sz="2600" dirty="0"/>
            <a:t>Longer contact times and prior successful interactions increase the likelihood of deposit acceptance, helping the bank optimize telemarketing strategies.</a:t>
          </a:r>
          <a:endParaRPr lang="en-US" sz="2600" dirty="0"/>
        </a:p>
      </dgm:t>
    </dgm:pt>
    <dgm:pt modelId="{B8C3049F-8159-4DB1-8C50-DB8D7B0EF410}" type="parTrans" cxnId="{EB309323-A90A-4ACF-8F94-CB7A10DAC38F}">
      <dgm:prSet/>
      <dgm:spPr/>
      <dgm:t>
        <a:bodyPr/>
        <a:lstStyle/>
        <a:p>
          <a:endParaRPr lang="en-US"/>
        </a:p>
      </dgm:t>
    </dgm:pt>
    <dgm:pt modelId="{DF30FCBE-84D1-4587-A61B-FAFA72BE025B}" type="sibTrans" cxnId="{EB309323-A90A-4ACF-8F94-CB7A10DAC38F}">
      <dgm:prSet/>
      <dgm:spPr/>
      <dgm:t>
        <a:bodyPr/>
        <a:lstStyle/>
        <a:p>
          <a:endParaRPr lang="en-US"/>
        </a:p>
      </dgm:t>
    </dgm:pt>
    <dgm:pt modelId="{406AA4C2-9772-4918-AC09-C3CE318F7093}" type="pres">
      <dgm:prSet presAssocID="{15927854-11BD-4FB1-8786-8E34BCB4E16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01E7B98-3322-4F78-BF28-260D8BA885B4}" type="pres">
      <dgm:prSet presAssocID="{34742622-3652-4DA4-A5D8-6DDF21F9152D}" presName="hierRoot1" presStyleCnt="0"/>
      <dgm:spPr/>
    </dgm:pt>
    <dgm:pt modelId="{EFD56DB5-2DE0-482F-99F5-06F5789CB13E}" type="pres">
      <dgm:prSet presAssocID="{34742622-3652-4DA4-A5D8-6DDF21F9152D}" presName="composite" presStyleCnt="0"/>
      <dgm:spPr/>
    </dgm:pt>
    <dgm:pt modelId="{99287F65-7338-4A5C-A62A-CB42041E197A}" type="pres">
      <dgm:prSet presAssocID="{34742622-3652-4DA4-A5D8-6DDF21F9152D}" presName="background" presStyleLbl="node0" presStyleIdx="0" presStyleCnt="3"/>
      <dgm:spPr/>
    </dgm:pt>
    <dgm:pt modelId="{A49B333D-EA81-437D-9CAC-A2AC33D5184B}" type="pres">
      <dgm:prSet presAssocID="{34742622-3652-4DA4-A5D8-6DDF21F9152D}" presName="text" presStyleLbl="fgAcc0" presStyleIdx="0" presStyleCnt="3" custScaleX="119013" custScaleY="139173">
        <dgm:presLayoutVars>
          <dgm:chPref val="3"/>
        </dgm:presLayoutVars>
      </dgm:prSet>
      <dgm:spPr/>
    </dgm:pt>
    <dgm:pt modelId="{B2C9AFA6-7D45-44CA-A5F2-E42B045AEE7D}" type="pres">
      <dgm:prSet presAssocID="{34742622-3652-4DA4-A5D8-6DDF21F9152D}" presName="hierChild2" presStyleCnt="0"/>
      <dgm:spPr/>
    </dgm:pt>
    <dgm:pt modelId="{368FBB69-623A-48E6-AB9A-1248F62E43C5}" type="pres">
      <dgm:prSet presAssocID="{4451A8F5-A344-4CC7-86BC-5AACD385A9DB}" presName="hierRoot1" presStyleCnt="0"/>
      <dgm:spPr/>
    </dgm:pt>
    <dgm:pt modelId="{2A960F84-76C4-4463-8183-AE21ECC231A0}" type="pres">
      <dgm:prSet presAssocID="{4451A8F5-A344-4CC7-86BC-5AACD385A9DB}" presName="composite" presStyleCnt="0"/>
      <dgm:spPr/>
    </dgm:pt>
    <dgm:pt modelId="{23A18009-961C-413D-BACB-E12F23B7D2A6}" type="pres">
      <dgm:prSet presAssocID="{4451A8F5-A344-4CC7-86BC-5AACD385A9DB}" presName="background" presStyleLbl="node0" presStyleIdx="1" presStyleCnt="3"/>
      <dgm:spPr/>
    </dgm:pt>
    <dgm:pt modelId="{A0A77BC7-CFD8-469F-87BD-F62C5FCAE7A4}" type="pres">
      <dgm:prSet presAssocID="{4451A8F5-A344-4CC7-86BC-5AACD385A9DB}" presName="text" presStyleLbl="fgAcc0" presStyleIdx="1" presStyleCnt="3" custScaleX="120318" custScaleY="205553">
        <dgm:presLayoutVars>
          <dgm:chPref val="3"/>
        </dgm:presLayoutVars>
      </dgm:prSet>
      <dgm:spPr/>
    </dgm:pt>
    <dgm:pt modelId="{B19486B3-FCD0-4C34-A786-7D200D5D8944}" type="pres">
      <dgm:prSet presAssocID="{4451A8F5-A344-4CC7-86BC-5AACD385A9DB}" presName="hierChild2" presStyleCnt="0"/>
      <dgm:spPr/>
    </dgm:pt>
    <dgm:pt modelId="{2A7C83CB-28BE-4B99-8F42-47A3DBD126D6}" type="pres">
      <dgm:prSet presAssocID="{79FC93EB-00DA-45CD-8C32-4CB6D71A16C1}" presName="hierRoot1" presStyleCnt="0"/>
      <dgm:spPr/>
    </dgm:pt>
    <dgm:pt modelId="{1EB4FD7D-EF60-49CF-8A6C-00F1F78A9E0A}" type="pres">
      <dgm:prSet presAssocID="{79FC93EB-00DA-45CD-8C32-4CB6D71A16C1}" presName="composite" presStyleCnt="0"/>
      <dgm:spPr/>
    </dgm:pt>
    <dgm:pt modelId="{665EA2AB-5892-46FF-A729-DC8DD6411E2B}" type="pres">
      <dgm:prSet presAssocID="{79FC93EB-00DA-45CD-8C32-4CB6D71A16C1}" presName="background" presStyleLbl="node0" presStyleIdx="2" presStyleCnt="3"/>
      <dgm:spPr/>
    </dgm:pt>
    <dgm:pt modelId="{6D7961F2-B86F-4234-B1C9-83946E4E550B}" type="pres">
      <dgm:prSet presAssocID="{79FC93EB-00DA-45CD-8C32-4CB6D71A16C1}" presName="text" presStyleLbl="fgAcc0" presStyleIdx="2" presStyleCnt="3" custScaleX="143732" custScaleY="235428">
        <dgm:presLayoutVars>
          <dgm:chPref val="3"/>
        </dgm:presLayoutVars>
      </dgm:prSet>
      <dgm:spPr/>
    </dgm:pt>
    <dgm:pt modelId="{84DEE2F4-1A0B-4294-B86C-83A4CFD56CC1}" type="pres">
      <dgm:prSet presAssocID="{79FC93EB-00DA-45CD-8C32-4CB6D71A16C1}" presName="hierChild2" presStyleCnt="0"/>
      <dgm:spPr/>
    </dgm:pt>
  </dgm:ptLst>
  <dgm:cxnLst>
    <dgm:cxn modelId="{EB309323-A90A-4ACF-8F94-CB7A10DAC38F}" srcId="{15927854-11BD-4FB1-8786-8E34BCB4E160}" destId="{79FC93EB-00DA-45CD-8C32-4CB6D71A16C1}" srcOrd="2" destOrd="0" parTransId="{B8C3049F-8159-4DB1-8C50-DB8D7B0EF410}" sibTransId="{DF30FCBE-84D1-4587-A61B-FAFA72BE025B}"/>
    <dgm:cxn modelId="{A912BF5B-086B-41D1-AECB-3F7D64FBF97B}" srcId="{15927854-11BD-4FB1-8786-8E34BCB4E160}" destId="{34742622-3652-4DA4-A5D8-6DDF21F9152D}" srcOrd="0" destOrd="0" parTransId="{B10E0D52-7B2B-4794-9E50-E07C82441E8B}" sibTransId="{15CA1DC2-AD5F-4AFA-A342-B0AFF4DCC5E1}"/>
    <dgm:cxn modelId="{093AF984-B874-4016-BB50-9CF0C05B75B9}" type="presOf" srcId="{15927854-11BD-4FB1-8786-8E34BCB4E160}" destId="{406AA4C2-9772-4918-AC09-C3CE318F7093}" srcOrd="0" destOrd="0" presId="urn:microsoft.com/office/officeart/2005/8/layout/hierarchy1"/>
    <dgm:cxn modelId="{A111C989-2D32-4138-B2FB-5C1A664D5F40}" type="presOf" srcId="{4451A8F5-A344-4CC7-86BC-5AACD385A9DB}" destId="{A0A77BC7-CFD8-469F-87BD-F62C5FCAE7A4}" srcOrd="0" destOrd="0" presId="urn:microsoft.com/office/officeart/2005/8/layout/hierarchy1"/>
    <dgm:cxn modelId="{6C0B6998-79AE-4B01-9757-69C104318E75}" srcId="{15927854-11BD-4FB1-8786-8E34BCB4E160}" destId="{4451A8F5-A344-4CC7-86BC-5AACD385A9DB}" srcOrd="1" destOrd="0" parTransId="{F1699509-DAA0-492C-A023-3CF05A1B6E86}" sibTransId="{8A15ECD5-0A63-4447-A9B8-BD1B56B6CE03}"/>
    <dgm:cxn modelId="{806658C5-84EF-4587-8FDB-8A8204638112}" type="presOf" srcId="{34742622-3652-4DA4-A5D8-6DDF21F9152D}" destId="{A49B333D-EA81-437D-9CAC-A2AC33D5184B}" srcOrd="0" destOrd="0" presId="urn:microsoft.com/office/officeart/2005/8/layout/hierarchy1"/>
    <dgm:cxn modelId="{D7C6F9E2-8B95-46BB-9357-F7344DF52442}" type="presOf" srcId="{79FC93EB-00DA-45CD-8C32-4CB6D71A16C1}" destId="{6D7961F2-B86F-4234-B1C9-83946E4E550B}" srcOrd="0" destOrd="0" presId="urn:microsoft.com/office/officeart/2005/8/layout/hierarchy1"/>
    <dgm:cxn modelId="{EA242126-A946-4CF7-BAF3-878A07E3EA28}" type="presParOf" srcId="{406AA4C2-9772-4918-AC09-C3CE318F7093}" destId="{B01E7B98-3322-4F78-BF28-260D8BA885B4}" srcOrd="0" destOrd="0" presId="urn:microsoft.com/office/officeart/2005/8/layout/hierarchy1"/>
    <dgm:cxn modelId="{169AB6B7-D480-42E5-AB99-B8AD977577C4}" type="presParOf" srcId="{B01E7B98-3322-4F78-BF28-260D8BA885B4}" destId="{EFD56DB5-2DE0-482F-99F5-06F5789CB13E}" srcOrd="0" destOrd="0" presId="urn:microsoft.com/office/officeart/2005/8/layout/hierarchy1"/>
    <dgm:cxn modelId="{D9D19972-97D7-4268-93FF-192156D46619}" type="presParOf" srcId="{EFD56DB5-2DE0-482F-99F5-06F5789CB13E}" destId="{99287F65-7338-4A5C-A62A-CB42041E197A}" srcOrd="0" destOrd="0" presId="urn:microsoft.com/office/officeart/2005/8/layout/hierarchy1"/>
    <dgm:cxn modelId="{008A145D-34BE-49F8-93E8-71B9785A9ADA}" type="presParOf" srcId="{EFD56DB5-2DE0-482F-99F5-06F5789CB13E}" destId="{A49B333D-EA81-437D-9CAC-A2AC33D5184B}" srcOrd="1" destOrd="0" presId="urn:microsoft.com/office/officeart/2005/8/layout/hierarchy1"/>
    <dgm:cxn modelId="{610997B8-3605-44F9-B36F-917E54E11FC6}" type="presParOf" srcId="{B01E7B98-3322-4F78-BF28-260D8BA885B4}" destId="{B2C9AFA6-7D45-44CA-A5F2-E42B045AEE7D}" srcOrd="1" destOrd="0" presId="urn:microsoft.com/office/officeart/2005/8/layout/hierarchy1"/>
    <dgm:cxn modelId="{9536DDE1-E3B9-457C-9D78-5E8D3F010BD0}" type="presParOf" srcId="{406AA4C2-9772-4918-AC09-C3CE318F7093}" destId="{368FBB69-623A-48E6-AB9A-1248F62E43C5}" srcOrd="1" destOrd="0" presId="urn:microsoft.com/office/officeart/2005/8/layout/hierarchy1"/>
    <dgm:cxn modelId="{D7B8525A-4567-435D-8210-6AF61BC04BD8}" type="presParOf" srcId="{368FBB69-623A-48E6-AB9A-1248F62E43C5}" destId="{2A960F84-76C4-4463-8183-AE21ECC231A0}" srcOrd="0" destOrd="0" presId="urn:microsoft.com/office/officeart/2005/8/layout/hierarchy1"/>
    <dgm:cxn modelId="{796D2B7B-BD08-4695-9DDD-B33B7B3643B4}" type="presParOf" srcId="{2A960F84-76C4-4463-8183-AE21ECC231A0}" destId="{23A18009-961C-413D-BACB-E12F23B7D2A6}" srcOrd="0" destOrd="0" presId="urn:microsoft.com/office/officeart/2005/8/layout/hierarchy1"/>
    <dgm:cxn modelId="{07311A74-B0E7-49CF-AF32-B2E03F80659B}" type="presParOf" srcId="{2A960F84-76C4-4463-8183-AE21ECC231A0}" destId="{A0A77BC7-CFD8-469F-87BD-F62C5FCAE7A4}" srcOrd="1" destOrd="0" presId="urn:microsoft.com/office/officeart/2005/8/layout/hierarchy1"/>
    <dgm:cxn modelId="{A4A02F88-DB82-4B96-AD92-50D46C1596F8}" type="presParOf" srcId="{368FBB69-623A-48E6-AB9A-1248F62E43C5}" destId="{B19486B3-FCD0-4C34-A786-7D200D5D8944}" srcOrd="1" destOrd="0" presId="urn:microsoft.com/office/officeart/2005/8/layout/hierarchy1"/>
    <dgm:cxn modelId="{A6CD58FE-EF2A-447C-8EC2-D0699B6EE771}" type="presParOf" srcId="{406AA4C2-9772-4918-AC09-C3CE318F7093}" destId="{2A7C83CB-28BE-4B99-8F42-47A3DBD126D6}" srcOrd="2" destOrd="0" presId="urn:microsoft.com/office/officeart/2005/8/layout/hierarchy1"/>
    <dgm:cxn modelId="{E28107E9-6D9C-4A07-B8E4-E15B3DB5EE7D}" type="presParOf" srcId="{2A7C83CB-28BE-4B99-8F42-47A3DBD126D6}" destId="{1EB4FD7D-EF60-49CF-8A6C-00F1F78A9E0A}" srcOrd="0" destOrd="0" presId="urn:microsoft.com/office/officeart/2005/8/layout/hierarchy1"/>
    <dgm:cxn modelId="{03A95F47-104F-49A4-A4A8-640CB331C1D4}" type="presParOf" srcId="{1EB4FD7D-EF60-49CF-8A6C-00F1F78A9E0A}" destId="{665EA2AB-5892-46FF-A729-DC8DD6411E2B}" srcOrd="0" destOrd="0" presId="urn:microsoft.com/office/officeart/2005/8/layout/hierarchy1"/>
    <dgm:cxn modelId="{411E54F5-AC4D-461E-93E0-EBFD77F12035}" type="presParOf" srcId="{1EB4FD7D-EF60-49CF-8A6C-00F1F78A9E0A}" destId="{6D7961F2-B86F-4234-B1C9-83946E4E550B}" srcOrd="1" destOrd="0" presId="urn:microsoft.com/office/officeart/2005/8/layout/hierarchy1"/>
    <dgm:cxn modelId="{20C2B151-92FF-4531-879C-73C44A1B4C21}" type="presParOf" srcId="{2A7C83CB-28BE-4B99-8F42-47A3DBD126D6}" destId="{84DEE2F4-1A0B-4294-B86C-83A4CFD56CC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2F3D43-4A20-4ED1-9025-362CE1200CE7}">
      <dsp:nvSpPr>
        <dsp:cNvPr id="0" name=""/>
        <dsp:cNvSpPr/>
      </dsp:nvSpPr>
      <dsp:spPr>
        <a:xfrm>
          <a:off x="8911" y="715950"/>
          <a:ext cx="1587813" cy="1421812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48685-5BA2-4FC8-AE0C-2B579A085ED6}">
      <dsp:nvSpPr>
        <dsp:cNvPr id="0" name=""/>
        <dsp:cNvSpPr/>
      </dsp:nvSpPr>
      <dsp:spPr>
        <a:xfrm>
          <a:off x="0" y="2178985"/>
          <a:ext cx="2231039" cy="204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400" b="0" kern="1200" dirty="0"/>
            <a:t>Review literature on statistical learning in telemarketing.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2400" b="0" kern="1200" dirty="0"/>
        </a:p>
      </dsp:txBody>
      <dsp:txXfrm>
        <a:off x="0" y="2178985"/>
        <a:ext cx="2231039" cy="2042610"/>
      </dsp:txXfrm>
    </dsp:sp>
    <dsp:sp modelId="{47C45C3D-3735-4043-B182-2BFEF610B546}">
      <dsp:nvSpPr>
        <dsp:cNvPr id="0" name=""/>
        <dsp:cNvSpPr/>
      </dsp:nvSpPr>
      <dsp:spPr>
        <a:xfrm>
          <a:off x="486094" y="3963420"/>
          <a:ext cx="1808076" cy="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97B5A1-22F6-445E-A645-677BC59E4B59}">
      <dsp:nvSpPr>
        <dsp:cNvPr id="0" name=""/>
        <dsp:cNvSpPr/>
      </dsp:nvSpPr>
      <dsp:spPr>
        <a:xfrm>
          <a:off x="2950792" y="716141"/>
          <a:ext cx="1910724" cy="1421045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BC649-F413-4E9B-A5E5-D85CBFAE7E38}">
      <dsp:nvSpPr>
        <dsp:cNvPr id="0" name=""/>
        <dsp:cNvSpPr/>
      </dsp:nvSpPr>
      <dsp:spPr>
        <a:xfrm>
          <a:off x="2734663" y="2256740"/>
          <a:ext cx="3342807" cy="204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400" b="0" kern="1200" dirty="0"/>
            <a:t>Develop two models: </a:t>
          </a:r>
          <a:r>
            <a:rPr lang="en-GB" sz="2400" kern="1200" dirty="0"/>
            <a:t>Logistic Regression and Decision Tree.</a:t>
          </a:r>
          <a:endParaRPr lang="en-US" sz="2400" b="0" kern="1200" dirty="0"/>
        </a:p>
      </dsp:txBody>
      <dsp:txXfrm>
        <a:off x="2734663" y="2256740"/>
        <a:ext cx="3342807" cy="2042610"/>
      </dsp:txXfrm>
    </dsp:sp>
    <dsp:sp modelId="{3C08AB83-E018-41A2-9889-5AB8AD786E45}">
      <dsp:nvSpPr>
        <dsp:cNvPr id="0" name=""/>
        <dsp:cNvSpPr/>
      </dsp:nvSpPr>
      <dsp:spPr>
        <a:xfrm>
          <a:off x="3187695" y="3962098"/>
          <a:ext cx="1808076" cy="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3187695" y="3962098"/>
        <a:ext cx="1808076" cy="138"/>
      </dsp:txXfrm>
    </dsp:sp>
    <dsp:sp modelId="{622AF995-04C7-48F9-B17B-4132C015B647}">
      <dsp:nvSpPr>
        <dsp:cNvPr id="0" name=""/>
        <dsp:cNvSpPr/>
      </dsp:nvSpPr>
      <dsp:spPr>
        <a:xfrm>
          <a:off x="6519426" y="680805"/>
          <a:ext cx="1483674" cy="1468161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4BB22-0272-4D19-A558-AA570511EA7C}">
      <dsp:nvSpPr>
        <dsp:cNvPr id="0" name=""/>
        <dsp:cNvSpPr/>
      </dsp:nvSpPr>
      <dsp:spPr>
        <a:xfrm>
          <a:off x="6337147" y="2268519"/>
          <a:ext cx="2553184" cy="204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400" b="0" kern="1200" dirty="0"/>
            <a:t>Model Performance evaluation using metrics like: Accuracy, Precision and Recall.</a:t>
          </a:r>
          <a:endParaRPr lang="en-US" sz="2400" b="0" kern="1200" dirty="0"/>
        </a:p>
      </dsp:txBody>
      <dsp:txXfrm>
        <a:off x="6337147" y="2268519"/>
        <a:ext cx="2553184" cy="2042610"/>
      </dsp:txXfrm>
    </dsp:sp>
    <dsp:sp modelId="{13E1442F-B185-4B0A-B320-2B077788B082}">
      <dsp:nvSpPr>
        <dsp:cNvPr id="0" name=""/>
        <dsp:cNvSpPr/>
      </dsp:nvSpPr>
      <dsp:spPr>
        <a:xfrm>
          <a:off x="6906401" y="3975008"/>
          <a:ext cx="1808076" cy="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6FB00-43B6-42DD-9D82-C41387A8DCEE}">
      <dsp:nvSpPr>
        <dsp:cNvPr id="0" name=""/>
        <dsp:cNvSpPr/>
      </dsp:nvSpPr>
      <dsp:spPr>
        <a:xfrm>
          <a:off x="9970613" y="588147"/>
          <a:ext cx="1446218" cy="1616451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AAEEB-DC54-4619-BE8D-03850E36AC81}">
      <dsp:nvSpPr>
        <dsp:cNvPr id="0" name=""/>
        <dsp:cNvSpPr/>
      </dsp:nvSpPr>
      <dsp:spPr>
        <a:xfrm>
          <a:off x="9587671" y="2116588"/>
          <a:ext cx="2270220" cy="204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400" b="0" kern="1200" dirty="0"/>
            <a:t>Deliver a comprehensive report, recommendations, and give meaningful insights.</a:t>
          </a:r>
          <a:endParaRPr lang="en-US" sz="2400" b="0" kern="1200" dirty="0"/>
        </a:p>
      </dsp:txBody>
      <dsp:txXfrm>
        <a:off x="9587671" y="2116588"/>
        <a:ext cx="2270220" cy="2042610"/>
      </dsp:txXfrm>
    </dsp:sp>
    <dsp:sp modelId="{223EECC8-91CC-4E5E-9107-1C12345BEA22}">
      <dsp:nvSpPr>
        <dsp:cNvPr id="0" name=""/>
        <dsp:cNvSpPr/>
      </dsp:nvSpPr>
      <dsp:spPr>
        <a:xfrm>
          <a:off x="9809832" y="4012080"/>
          <a:ext cx="1808076" cy="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AE3F9-6484-4C25-AFE9-2A5A71D57E02}">
      <dsp:nvSpPr>
        <dsp:cNvPr id="0" name=""/>
        <dsp:cNvSpPr/>
      </dsp:nvSpPr>
      <dsp:spPr>
        <a:xfrm>
          <a:off x="161020" y="775787"/>
          <a:ext cx="2510698" cy="1506418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28575" cap="flat" cmpd="sng" algn="ctr">
          <a:solidFill>
            <a:srgbClr val="18299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>
              <a:solidFill>
                <a:srgbClr val="FF0000"/>
              </a:solidFill>
            </a:rPr>
            <a:t>1. </a:t>
          </a:r>
          <a:r>
            <a:rPr lang="en-GB" sz="2800" b="1" kern="1200" dirty="0">
              <a:solidFill>
                <a:schemeClr val="tx1"/>
              </a:solidFill>
            </a:rPr>
            <a:t>Business understanding</a:t>
          </a:r>
          <a:endParaRPr lang="en-ZA" sz="2800" kern="1200" dirty="0">
            <a:solidFill>
              <a:schemeClr val="tx1"/>
            </a:solidFill>
          </a:endParaRPr>
        </a:p>
      </dsp:txBody>
      <dsp:txXfrm>
        <a:off x="205141" y="819908"/>
        <a:ext cx="2422456" cy="1418176"/>
      </dsp:txXfrm>
    </dsp:sp>
    <dsp:sp modelId="{13A3872C-9ED7-4F63-9FFB-836C153A66D0}">
      <dsp:nvSpPr>
        <dsp:cNvPr id="0" name=""/>
        <dsp:cNvSpPr/>
      </dsp:nvSpPr>
      <dsp:spPr>
        <a:xfrm>
          <a:off x="2884633" y="1217669"/>
          <a:ext cx="451379" cy="622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rgbClr val="18299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300" kern="1200"/>
        </a:p>
      </dsp:txBody>
      <dsp:txXfrm>
        <a:off x="2884633" y="1342200"/>
        <a:ext cx="315965" cy="373591"/>
      </dsp:txXfrm>
    </dsp:sp>
    <dsp:sp modelId="{C773AB02-2C04-4AEF-9126-7A50CA4BBDB0}">
      <dsp:nvSpPr>
        <dsp:cNvPr id="0" name=""/>
        <dsp:cNvSpPr/>
      </dsp:nvSpPr>
      <dsp:spPr>
        <a:xfrm>
          <a:off x="3523377" y="775787"/>
          <a:ext cx="2510698" cy="1506418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28575" cap="flat" cmpd="sng" algn="ctr">
          <a:solidFill>
            <a:srgbClr val="18299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>
              <a:solidFill>
                <a:srgbClr val="FF0000"/>
              </a:solidFill>
            </a:rPr>
            <a:t>2. </a:t>
          </a:r>
          <a:r>
            <a:rPr lang="en-GB" sz="2800" b="1" kern="1200" dirty="0">
              <a:solidFill>
                <a:schemeClr val="tx1"/>
              </a:solidFill>
            </a:rPr>
            <a:t>Data understanding</a:t>
          </a:r>
          <a:endParaRPr lang="en-ZA" sz="2800" kern="1200" dirty="0">
            <a:solidFill>
              <a:schemeClr val="tx1"/>
            </a:solidFill>
          </a:endParaRPr>
        </a:p>
      </dsp:txBody>
      <dsp:txXfrm>
        <a:off x="3567498" y="819908"/>
        <a:ext cx="2422456" cy="1418176"/>
      </dsp:txXfrm>
    </dsp:sp>
    <dsp:sp modelId="{4FFE2FB6-4F9F-4EF4-953D-9250641A1EBC}">
      <dsp:nvSpPr>
        <dsp:cNvPr id="0" name=""/>
        <dsp:cNvSpPr/>
      </dsp:nvSpPr>
      <dsp:spPr>
        <a:xfrm>
          <a:off x="6285145" y="1217669"/>
          <a:ext cx="532267" cy="622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rgbClr val="18299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300" kern="1200"/>
        </a:p>
      </dsp:txBody>
      <dsp:txXfrm>
        <a:off x="6285145" y="1342200"/>
        <a:ext cx="372587" cy="373591"/>
      </dsp:txXfrm>
    </dsp:sp>
    <dsp:sp modelId="{67BEB0BC-BFAB-4AF7-947B-786D8C9C6FEF}">
      <dsp:nvSpPr>
        <dsp:cNvPr id="0" name=""/>
        <dsp:cNvSpPr/>
      </dsp:nvSpPr>
      <dsp:spPr>
        <a:xfrm>
          <a:off x="7038354" y="775787"/>
          <a:ext cx="2510698" cy="1506418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28575" cap="flat" cmpd="sng" algn="ctr">
          <a:solidFill>
            <a:srgbClr val="18299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>
              <a:solidFill>
                <a:srgbClr val="FF0000"/>
              </a:solidFill>
            </a:rPr>
            <a:t>3. </a:t>
          </a:r>
          <a:r>
            <a:rPr lang="en-GB" sz="2800" b="1" kern="1200" dirty="0">
              <a:solidFill>
                <a:schemeClr val="tx1"/>
              </a:solidFill>
            </a:rPr>
            <a:t>Data preparation</a:t>
          </a:r>
          <a:endParaRPr lang="en-ZA" sz="2800" kern="1200" dirty="0">
            <a:solidFill>
              <a:schemeClr val="tx1"/>
            </a:solidFill>
          </a:endParaRPr>
        </a:p>
      </dsp:txBody>
      <dsp:txXfrm>
        <a:off x="7082475" y="819908"/>
        <a:ext cx="2422456" cy="14181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AE3F9-6484-4C25-AFE9-2A5A71D57E02}">
      <dsp:nvSpPr>
        <dsp:cNvPr id="0" name=""/>
        <dsp:cNvSpPr/>
      </dsp:nvSpPr>
      <dsp:spPr>
        <a:xfrm>
          <a:off x="2089" y="1713919"/>
          <a:ext cx="2363835" cy="1418301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28575" cap="flat" cmpd="sng" algn="ctr">
          <a:solidFill>
            <a:srgbClr val="18299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>
              <a:solidFill>
                <a:srgbClr val="FF0000"/>
              </a:solidFill>
            </a:rPr>
            <a:t>6. </a:t>
          </a:r>
          <a:r>
            <a:rPr lang="en-GB" sz="2800" b="1" kern="1200" dirty="0">
              <a:solidFill>
                <a:schemeClr val="tx1"/>
              </a:solidFill>
            </a:rPr>
            <a:t>Conclusion</a:t>
          </a:r>
          <a:endParaRPr lang="en-ZA" sz="2800" kern="1200" dirty="0">
            <a:solidFill>
              <a:schemeClr val="tx1"/>
            </a:solidFill>
          </a:endParaRPr>
        </a:p>
      </dsp:txBody>
      <dsp:txXfrm>
        <a:off x="43630" y="1755460"/>
        <a:ext cx="2280753" cy="1335219"/>
      </dsp:txXfrm>
    </dsp:sp>
    <dsp:sp modelId="{13A3872C-9ED7-4F63-9FFB-836C153A66D0}">
      <dsp:nvSpPr>
        <dsp:cNvPr id="0" name=""/>
        <dsp:cNvSpPr/>
      </dsp:nvSpPr>
      <dsp:spPr>
        <a:xfrm rot="10800000">
          <a:off x="2602309" y="2129954"/>
          <a:ext cx="501133" cy="5862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rgbClr val="18299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500" kern="1200"/>
        </a:p>
      </dsp:txBody>
      <dsp:txXfrm>
        <a:off x="2752649" y="2247200"/>
        <a:ext cx="350793" cy="351739"/>
      </dsp:txXfrm>
    </dsp:sp>
    <dsp:sp modelId="{C773AB02-2C04-4AEF-9126-7A50CA4BBDB0}">
      <dsp:nvSpPr>
        <dsp:cNvPr id="0" name=""/>
        <dsp:cNvSpPr/>
      </dsp:nvSpPr>
      <dsp:spPr>
        <a:xfrm>
          <a:off x="3311459" y="1713919"/>
          <a:ext cx="2363835" cy="1418301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28575" cap="flat" cmpd="sng" algn="ctr">
          <a:solidFill>
            <a:srgbClr val="18299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>
              <a:solidFill>
                <a:srgbClr val="FF0000"/>
              </a:solidFill>
            </a:rPr>
            <a:t>5. </a:t>
          </a:r>
          <a:r>
            <a:rPr lang="en-GB" sz="2800" b="1" kern="1200" dirty="0">
              <a:solidFill>
                <a:schemeClr val="tx1"/>
              </a:solidFill>
            </a:rPr>
            <a:t>Model evaluation</a:t>
          </a:r>
          <a:endParaRPr lang="en-ZA" sz="2800" kern="1200" dirty="0">
            <a:solidFill>
              <a:schemeClr val="tx1"/>
            </a:solidFill>
          </a:endParaRPr>
        </a:p>
      </dsp:txBody>
      <dsp:txXfrm>
        <a:off x="3353000" y="1755460"/>
        <a:ext cx="2280753" cy="1335219"/>
      </dsp:txXfrm>
    </dsp:sp>
    <dsp:sp modelId="{4FFE2FB6-4F9F-4EF4-953D-9250641A1EBC}">
      <dsp:nvSpPr>
        <dsp:cNvPr id="0" name=""/>
        <dsp:cNvSpPr/>
      </dsp:nvSpPr>
      <dsp:spPr>
        <a:xfrm rot="10583256">
          <a:off x="5911679" y="2129954"/>
          <a:ext cx="501133" cy="5862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rgbClr val="18299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500" kern="1200"/>
        </a:p>
      </dsp:txBody>
      <dsp:txXfrm>
        <a:off x="6061870" y="2242464"/>
        <a:ext cx="350793" cy="351739"/>
      </dsp:txXfrm>
    </dsp:sp>
    <dsp:sp modelId="{67BEB0BC-BFAB-4AF7-947B-786D8C9C6FEF}">
      <dsp:nvSpPr>
        <dsp:cNvPr id="0" name=""/>
        <dsp:cNvSpPr/>
      </dsp:nvSpPr>
      <dsp:spPr>
        <a:xfrm>
          <a:off x="6620830" y="1713919"/>
          <a:ext cx="2563296" cy="1418301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28575" cap="flat" cmpd="sng" algn="ctr">
          <a:solidFill>
            <a:srgbClr val="18299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dirty="0">
              <a:solidFill>
                <a:srgbClr val="FF0000"/>
              </a:solidFill>
            </a:rPr>
            <a:t>4. </a:t>
          </a:r>
          <a:r>
            <a:rPr lang="en-GB" sz="2800" b="1" kern="1200" dirty="0">
              <a:solidFill>
                <a:schemeClr val="tx1"/>
              </a:solidFill>
            </a:rPr>
            <a:t>Modelling</a:t>
          </a:r>
          <a:endParaRPr lang="en-ZA" sz="2800" kern="1200" dirty="0">
            <a:solidFill>
              <a:schemeClr val="tx1"/>
            </a:solidFill>
          </a:endParaRPr>
        </a:p>
      </dsp:txBody>
      <dsp:txXfrm>
        <a:off x="6662371" y="1755460"/>
        <a:ext cx="2480214" cy="13352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87F65-7338-4A5C-A62A-CB42041E197A}">
      <dsp:nvSpPr>
        <dsp:cNvPr id="0" name=""/>
        <dsp:cNvSpPr/>
      </dsp:nvSpPr>
      <dsp:spPr>
        <a:xfrm>
          <a:off x="4624" y="572295"/>
          <a:ext cx="3472228" cy="3086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B333D-EA81-437D-9CAC-A2AC33D5184B}">
      <dsp:nvSpPr>
        <dsp:cNvPr id="0" name=""/>
        <dsp:cNvSpPr/>
      </dsp:nvSpPr>
      <dsp:spPr>
        <a:xfrm>
          <a:off x="328793" y="880256"/>
          <a:ext cx="3472228" cy="30867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Showed various statistical learning models’(e.g. Logistic regressing, KNN and decision tree) success in predicting customer behaviour</a:t>
          </a:r>
          <a:r>
            <a:rPr lang="en-ZA" sz="2600" kern="1200" dirty="0">
              <a:hlinkClick xmlns:r="http://schemas.openxmlformats.org/officeDocument/2006/relationships" r:id="rId1"/>
            </a:rPr>
            <a:t> Moro et al., 2014</a:t>
          </a:r>
          <a:r>
            <a:rPr lang="en-ZA" sz="2600" kern="1200" dirty="0"/>
            <a:t>.</a:t>
          </a:r>
          <a:endParaRPr lang="en-US" sz="2600" kern="1200" dirty="0"/>
        </a:p>
      </dsp:txBody>
      <dsp:txXfrm>
        <a:off x="419200" y="970663"/>
        <a:ext cx="3291414" cy="2905900"/>
      </dsp:txXfrm>
    </dsp:sp>
    <dsp:sp modelId="{23A18009-961C-413D-BACB-E12F23B7D2A6}">
      <dsp:nvSpPr>
        <dsp:cNvPr id="0" name=""/>
        <dsp:cNvSpPr/>
      </dsp:nvSpPr>
      <dsp:spPr>
        <a:xfrm>
          <a:off x="4125190" y="572295"/>
          <a:ext cx="2917519" cy="30323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77BC7-CFD8-469F-87BD-F62C5FCAE7A4}">
      <dsp:nvSpPr>
        <dsp:cNvPr id="0" name=""/>
        <dsp:cNvSpPr/>
      </dsp:nvSpPr>
      <dsp:spPr>
        <a:xfrm>
          <a:off x="4449359" y="880256"/>
          <a:ext cx="2917519" cy="30323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u="sng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Significant factors </a:t>
          </a:r>
          <a:r>
            <a:rPr lang="en-GB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identified - age, job, education, and housing status </a:t>
          </a:r>
          <a:r>
            <a:rPr lang="en-ZA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  <a:hlinkClick xmlns:r="http://schemas.openxmlformats.org/officeDocument/2006/relationships" r:id="rId2"/>
            </a:rPr>
            <a:t>Tekouabou et al., 2019</a:t>
          </a:r>
          <a:r>
            <a:rPr lang="en-ZA" sz="2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.</a:t>
          </a:r>
          <a:endParaRPr 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4534810" y="965707"/>
        <a:ext cx="2746617" cy="2861456"/>
      </dsp:txXfrm>
    </dsp:sp>
    <dsp:sp modelId="{665EA2AB-5892-46FF-A729-DC8DD6411E2B}">
      <dsp:nvSpPr>
        <dsp:cNvPr id="0" name=""/>
        <dsp:cNvSpPr/>
      </dsp:nvSpPr>
      <dsp:spPr>
        <a:xfrm>
          <a:off x="7691048" y="572295"/>
          <a:ext cx="2917519" cy="29875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961F2-B86F-4234-B1C9-83946E4E550B}">
      <dsp:nvSpPr>
        <dsp:cNvPr id="0" name=""/>
        <dsp:cNvSpPr/>
      </dsp:nvSpPr>
      <dsp:spPr>
        <a:xfrm>
          <a:off x="8015217" y="880256"/>
          <a:ext cx="2917519" cy="29875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u="sng" kern="1200" dirty="0"/>
            <a:t>Challenges</a:t>
          </a:r>
          <a:r>
            <a:rPr lang="en-GB" sz="2600" kern="1200" dirty="0"/>
            <a:t>: data quality, regulatory constraints, and model interpretability </a:t>
          </a:r>
          <a:r>
            <a:rPr lang="en-ZA" sz="2600" kern="1200" dirty="0" err="1">
              <a:hlinkClick xmlns:r="http://schemas.openxmlformats.org/officeDocument/2006/relationships" r:id="rId3"/>
            </a:rPr>
            <a:t>Mehrabi</a:t>
          </a:r>
          <a:r>
            <a:rPr lang="en-ZA" sz="2600" kern="1200" dirty="0">
              <a:hlinkClick xmlns:r="http://schemas.openxmlformats.org/officeDocument/2006/relationships" r:id="rId3"/>
            </a:rPr>
            <a:t> et al., 2021</a:t>
          </a:r>
          <a:r>
            <a:rPr lang="en-ZA" sz="2600" kern="1200" dirty="0"/>
            <a:t>.</a:t>
          </a:r>
          <a:endParaRPr lang="en-US" sz="2600" kern="1200" dirty="0"/>
        </a:p>
      </dsp:txBody>
      <dsp:txXfrm>
        <a:off x="8100668" y="965707"/>
        <a:ext cx="2746617" cy="28166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F06F3-3F2C-41AD-8095-CA55F75A2AB7}">
      <dsp:nvSpPr>
        <dsp:cNvPr id="0" name=""/>
        <dsp:cNvSpPr/>
      </dsp:nvSpPr>
      <dsp:spPr>
        <a:xfrm>
          <a:off x="3193" y="450519"/>
          <a:ext cx="2870387" cy="1107969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6429E-FBFF-4039-BF7D-1D7B2F1481AA}">
      <dsp:nvSpPr>
        <dsp:cNvPr id="0" name=""/>
        <dsp:cNvSpPr/>
      </dsp:nvSpPr>
      <dsp:spPr>
        <a:xfrm>
          <a:off x="482139" y="727511"/>
          <a:ext cx="2996864" cy="11079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/>
            <a:t>Initial: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/>
            <a:t>(45220 entries,20 variables)</a:t>
          </a:r>
        </a:p>
      </dsp:txBody>
      <dsp:txXfrm>
        <a:off x="514590" y="759962"/>
        <a:ext cx="2931962" cy="1043067"/>
      </dsp:txXfrm>
    </dsp:sp>
    <dsp:sp modelId="{65ECDC5D-EAE1-4E3E-A462-558E3F59B3BF}">
      <dsp:nvSpPr>
        <dsp:cNvPr id="0" name=""/>
        <dsp:cNvSpPr/>
      </dsp:nvSpPr>
      <dsp:spPr>
        <a:xfrm>
          <a:off x="3568304" y="450519"/>
          <a:ext cx="2870387" cy="1107969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050CE-339E-4784-9151-28BA012D7D26}">
      <dsp:nvSpPr>
        <dsp:cNvPr id="0" name=""/>
        <dsp:cNvSpPr/>
      </dsp:nvSpPr>
      <dsp:spPr>
        <a:xfrm>
          <a:off x="4031761" y="727511"/>
          <a:ext cx="3027841" cy="11079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/>
            <a:t>Post data cleaning: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0" kern="1200" dirty="0"/>
            <a:t>(45211 entries, 19 variables)</a:t>
          </a:r>
        </a:p>
      </dsp:txBody>
      <dsp:txXfrm>
        <a:off x="4064212" y="759962"/>
        <a:ext cx="2962939" cy="1043067"/>
      </dsp:txXfrm>
    </dsp:sp>
    <dsp:sp modelId="{F211E7F8-0898-4640-8057-7592BB2B30A4}">
      <dsp:nvSpPr>
        <dsp:cNvPr id="0" name=""/>
        <dsp:cNvSpPr/>
      </dsp:nvSpPr>
      <dsp:spPr>
        <a:xfrm>
          <a:off x="7148904" y="450519"/>
          <a:ext cx="2870387" cy="1107969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70D8B-8E5F-4C99-B26D-50D81D602D64}">
      <dsp:nvSpPr>
        <dsp:cNvPr id="0" name=""/>
        <dsp:cNvSpPr/>
      </dsp:nvSpPr>
      <dsp:spPr>
        <a:xfrm>
          <a:off x="7369548" y="727511"/>
          <a:ext cx="3513466" cy="11079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/>
            <a:t>Post feature encoding: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0" kern="1200" dirty="0"/>
            <a:t>(45211 entries, 34 variables)</a:t>
          </a:r>
        </a:p>
      </dsp:txBody>
      <dsp:txXfrm>
        <a:off x="7401999" y="759962"/>
        <a:ext cx="3448564" cy="10430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BD919-C8BE-4C0D-B120-FD4478401C08}">
      <dsp:nvSpPr>
        <dsp:cNvPr id="0" name=""/>
        <dsp:cNvSpPr/>
      </dsp:nvSpPr>
      <dsp:spPr>
        <a:xfrm>
          <a:off x="487591" y="1146410"/>
          <a:ext cx="2160636" cy="1394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B2027-E3EA-45D5-A5B0-49A6E1B5AAFC}">
      <dsp:nvSpPr>
        <dsp:cNvPr id="0" name=""/>
        <dsp:cNvSpPr/>
      </dsp:nvSpPr>
      <dsp:spPr>
        <a:xfrm>
          <a:off x="5184" y="2803626"/>
          <a:ext cx="3237460" cy="571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/>
            <a:t>Model Performance</a:t>
          </a:r>
          <a:r>
            <a:rPr lang="en-ZA" sz="2400" kern="1200" dirty="0"/>
            <a:t>: Logistic regression outperforms the decision tree with a ROC AUC score of 89% and 82% accuracy, compared to the decision tree's 83% ROC AUC and 79% accuracy</a:t>
          </a:r>
          <a:r>
            <a:rPr lang="en-ZA" sz="1100" kern="1200" dirty="0"/>
            <a:t>.</a:t>
          </a:r>
          <a:endParaRPr lang="en-US" sz="1100" kern="1200" dirty="0"/>
        </a:p>
      </dsp:txBody>
      <dsp:txXfrm>
        <a:off x="5184" y="2803626"/>
        <a:ext cx="3237460" cy="571212"/>
      </dsp:txXfrm>
    </dsp:sp>
    <dsp:sp modelId="{2648245F-A05D-45DA-A428-10C33D383E6B}">
      <dsp:nvSpPr>
        <dsp:cNvPr id="0" name=""/>
        <dsp:cNvSpPr/>
      </dsp:nvSpPr>
      <dsp:spPr>
        <a:xfrm>
          <a:off x="3687229" y="913448"/>
          <a:ext cx="2264939" cy="19018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33651-F47B-457D-9DF2-3EC69FCAE060}">
      <dsp:nvSpPr>
        <dsp:cNvPr id="0" name=""/>
        <dsp:cNvSpPr/>
      </dsp:nvSpPr>
      <dsp:spPr>
        <a:xfrm>
          <a:off x="3478279" y="2930516"/>
          <a:ext cx="2542835" cy="571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/>
            <a:t>Generalization</a:t>
          </a:r>
          <a:r>
            <a:rPr lang="en-ZA" sz="2400" kern="1200" dirty="0"/>
            <a:t>: Logistic regression has better generalization on unseen data due to its ability to capture linear relationship.</a:t>
          </a:r>
          <a:endParaRPr lang="en-US" sz="2400" kern="1200" dirty="0"/>
        </a:p>
      </dsp:txBody>
      <dsp:txXfrm>
        <a:off x="3478279" y="2930516"/>
        <a:ext cx="2542835" cy="571212"/>
      </dsp:txXfrm>
    </dsp:sp>
    <dsp:sp modelId="{D26BFA23-93A8-4FBF-A5EF-9E23EBD67E88}">
      <dsp:nvSpPr>
        <dsp:cNvPr id="0" name=""/>
        <dsp:cNvSpPr/>
      </dsp:nvSpPr>
      <dsp:spPr>
        <a:xfrm>
          <a:off x="6984848" y="916760"/>
          <a:ext cx="1543485" cy="19208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E32EB-775F-41D8-A988-00B5BDDCD10B}">
      <dsp:nvSpPr>
        <dsp:cNvPr id="0" name=""/>
        <dsp:cNvSpPr/>
      </dsp:nvSpPr>
      <dsp:spPr>
        <a:xfrm>
          <a:off x="6256750" y="2935269"/>
          <a:ext cx="2915677" cy="571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/>
            <a:t>Interpretability</a:t>
          </a:r>
          <a:r>
            <a:rPr lang="en-ZA" sz="2000" kern="1200" dirty="0"/>
            <a:t>: </a:t>
          </a:r>
          <a:r>
            <a:rPr lang="en-ZA" sz="2400" kern="1200" dirty="0"/>
            <a:t>Logistic regression provides interpretable coefficients, while decision trees become more complex and harder to interpret as they grow deeper.</a:t>
          </a:r>
          <a:endParaRPr lang="en-US" sz="2000" kern="1200" dirty="0"/>
        </a:p>
      </dsp:txBody>
      <dsp:txXfrm>
        <a:off x="6256750" y="2935269"/>
        <a:ext cx="2915677" cy="571212"/>
      </dsp:txXfrm>
    </dsp:sp>
    <dsp:sp modelId="{D4B1E6B0-B407-4512-9E3B-0DDC87F2212D}">
      <dsp:nvSpPr>
        <dsp:cNvPr id="0" name=""/>
        <dsp:cNvSpPr/>
      </dsp:nvSpPr>
      <dsp:spPr>
        <a:xfrm>
          <a:off x="10131801" y="1112989"/>
          <a:ext cx="1807295" cy="17022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F4BE4-4DF2-4F64-AEEC-95AD219E8D81}">
      <dsp:nvSpPr>
        <dsp:cNvPr id="0" name=""/>
        <dsp:cNvSpPr/>
      </dsp:nvSpPr>
      <dsp:spPr>
        <a:xfrm>
          <a:off x="9408062" y="2880631"/>
          <a:ext cx="2778753" cy="571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/>
            <a:t>Logistic regression excels in predictive power and maintains a balance between generalization and interpretability.</a:t>
          </a:r>
          <a:br>
            <a:rPr lang="en-ZA" sz="1200" kern="1200" dirty="0"/>
          </a:br>
          <a:br>
            <a:rPr lang="en-ZA" sz="1200" kern="1200" dirty="0"/>
          </a:br>
          <a:br>
            <a:rPr lang="en-ZA" sz="1100" kern="1200" dirty="0"/>
          </a:br>
          <a:br>
            <a:rPr lang="en-ZA" sz="1100" kern="1200" dirty="0"/>
          </a:br>
          <a:endParaRPr lang="en-US" sz="1100" kern="1200" dirty="0"/>
        </a:p>
      </dsp:txBody>
      <dsp:txXfrm>
        <a:off x="9408062" y="2880631"/>
        <a:ext cx="2778753" cy="5712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87F65-7338-4A5C-A62A-CB42041E197A}">
      <dsp:nvSpPr>
        <dsp:cNvPr id="0" name=""/>
        <dsp:cNvSpPr/>
      </dsp:nvSpPr>
      <dsp:spPr>
        <a:xfrm>
          <a:off x="8438" y="727178"/>
          <a:ext cx="2963120" cy="22003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B333D-EA81-437D-9CAC-A2AC33D5184B}">
      <dsp:nvSpPr>
        <dsp:cNvPr id="0" name=""/>
        <dsp:cNvSpPr/>
      </dsp:nvSpPr>
      <dsp:spPr>
        <a:xfrm>
          <a:off x="285077" y="989985"/>
          <a:ext cx="2963120" cy="22003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Model Comparison</a:t>
          </a:r>
          <a:r>
            <a:rPr lang="en-ZA" sz="2600" kern="1200" dirty="0"/>
            <a:t>: Logistic regression outperformed the decision tree.</a:t>
          </a:r>
          <a:endParaRPr lang="en-US" sz="2600" kern="1200" dirty="0"/>
        </a:p>
      </dsp:txBody>
      <dsp:txXfrm>
        <a:off x="349522" y="1054430"/>
        <a:ext cx="2834230" cy="2071418"/>
      </dsp:txXfrm>
    </dsp:sp>
    <dsp:sp modelId="{23A18009-961C-413D-BACB-E12F23B7D2A6}">
      <dsp:nvSpPr>
        <dsp:cNvPr id="0" name=""/>
        <dsp:cNvSpPr/>
      </dsp:nvSpPr>
      <dsp:spPr>
        <a:xfrm>
          <a:off x="3524835" y="727178"/>
          <a:ext cx="2995611" cy="32497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77BC7-CFD8-469F-87BD-F62C5FCAE7A4}">
      <dsp:nvSpPr>
        <dsp:cNvPr id="0" name=""/>
        <dsp:cNvSpPr/>
      </dsp:nvSpPr>
      <dsp:spPr>
        <a:xfrm>
          <a:off x="3801474" y="989985"/>
          <a:ext cx="2995611" cy="3249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/>
            <a:t>Key Predictors</a:t>
          </a:r>
          <a:r>
            <a:rPr lang="en-ZA" sz="2600" kern="1200" dirty="0"/>
            <a:t>: Contact time, previous successful campaigns, and contact type are important factors in predicting deposit acceptance.</a:t>
          </a:r>
          <a:endParaRPr lang="en-US" sz="2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3889212" y="1077723"/>
        <a:ext cx="2820135" cy="3074292"/>
      </dsp:txXfrm>
    </dsp:sp>
    <dsp:sp modelId="{665EA2AB-5892-46FF-A729-DC8DD6411E2B}">
      <dsp:nvSpPr>
        <dsp:cNvPr id="0" name=""/>
        <dsp:cNvSpPr/>
      </dsp:nvSpPr>
      <dsp:spPr>
        <a:xfrm>
          <a:off x="7073724" y="727178"/>
          <a:ext cx="3578560" cy="37220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961F2-B86F-4234-B1C9-83946E4E550B}">
      <dsp:nvSpPr>
        <dsp:cNvPr id="0" name=""/>
        <dsp:cNvSpPr/>
      </dsp:nvSpPr>
      <dsp:spPr>
        <a:xfrm>
          <a:off x="7350362" y="989985"/>
          <a:ext cx="3578560" cy="37220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kern="1200" dirty="0"/>
            <a:t>Longer contact times and prior successful interactions increase the likelihood of deposit acceptance, helping the bank optimize telemarketing strategies.</a:t>
          </a:r>
          <a:endParaRPr lang="en-US" sz="2600" kern="1200" dirty="0"/>
        </a:p>
      </dsp:txBody>
      <dsp:txXfrm>
        <a:off x="7455174" y="1094797"/>
        <a:ext cx="3368936" cy="3512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E9533-6AE0-4964-8FF1-5891E4CB664D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4445A-0F94-4594-AD7E-F982AFD03184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83691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94445A-0F94-4594-AD7E-F982AFD03184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0238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94445A-0F94-4594-AD7E-F982AFD03184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1216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94445A-0F94-4594-AD7E-F982AFD03184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3958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94445A-0F94-4594-AD7E-F982AFD03184}" type="slidenum">
              <a:rPr lang="en-ZA" smtClean="0"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13298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94445A-0F94-4594-AD7E-F982AFD03184}" type="slidenum">
              <a:rPr lang="en-ZA" smtClean="0"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445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94445A-0F94-4594-AD7E-F982AFD03184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843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/>
              <a:t>In contrast, decision trees can over fit to training data, especially if not properly pruned, which may explain the lower ROC AUC score and accuracy observed in the decision tree.</a:t>
            </a:r>
          </a:p>
          <a:p>
            <a:endParaRPr lang="en-ZA" dirty="0"/>
          </a:p>
          <a:p>
            <a:r>
              <a:rPr lang="en-ZA" dirty="0"/>
              <a:t>On the other hand, decision trees provide visual interpretability by illustrating the decision-making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94445A-0F94-4594-AD7E-F982AFD03184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365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94445A-0F94-4594-AD7E-F982AFD03184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475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Benefits</a:t>
            </a:r>
            <a:r>
              <a:rPr lang="en-Z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Prioritizing high-likelihood customers improves resource allocation, reduces costs, and boosts conversion rates.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94445A-0F94-4594-AD7E-F982AFD03184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316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894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00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1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88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85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7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1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08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42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39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506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63837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89301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71771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26941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97916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07620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446292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556428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68274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34962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88447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27881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82919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223016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190014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539207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33649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02589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96476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087452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313215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617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8005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9BE9D-D4DB-4255-8D04-472521143165}" type="datetimeFigureOut">
              <a:rPr lang="en-ZA" smtClean="0"/>
              <a:t>2024/09/30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27A55-251A-42A8-8A92-D2C3AAA74AEF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62883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piedigitallibrary.org/conference-proceedings-of-spie/9875/1/Influence-of-resampling-on-accuracy-of-imbalanced-classification/10.1117/12.2228523.short#_=_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hyperlink" Target="https://www.lexjansen.com/sesug/2017/SD-69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C6BF18-60EF-4224-B8C3-FFD2B0178B09}"/>
              </a:ext>
            </a:extLst>
          </p:cNvPr>
          <p:cNvSpPr txBox="1"/>
          <p:nvPr/>
        </p:nvSpPr>
        <p:spPr>
          <a:xfrm flipH="1">
            <a:off x="786735" y="0"/>
            <a:ext cx="1023028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IMPROVING SUCCESS IN TELEMARKETING: AN APPLICATION OF STATISTICAL METHODS IN THE BANKING INDUSTRY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D7F3C-B89F-478B-B6DD-667501AC71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5" t="4802" r="4251" b="4173"/>
          <a:stretch/>
        </p:blipFill>
        <p:spPr>
          <a:xfrm>
            <a:off x="10673405" y="4941115"/>
            <a:ext cx="1238962" cy="14324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A15F9E-6CD7-0E1B-B5CA-4E9B69D70557}"/>
              </a:ext>
            </a:extLst>
          </p:cNvPr>
          <p:cNvSpPr txBox="1"/>
          <p:nvPr/>
        </p:nvSpPr>
        <p:spPr>
          <a:xfrm>
            <a:off x="4904509" y="5107370"/>
            <a:ext cx="38777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STA 761</a:t>
            </a:r>
          </a:p>
          <a:p>
            <a:r>
              <a:rPr lang="en-GB" sz="2800" dirty="0"/>
              <a:t>Submission date: 04/10/2024</a:t>
            </a:r>
            <a:endParaRPr lang="en-ZA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33F79-FD5D-A0C9-2570-4A549FD243B2}"/>
              </a:ext>
            </a:extLst>
          </p:cNvPr>
          <p:cNvSpPr txBox="1"/>
          <p:nvPr/>
        </p:nvSpPr>
        <p:spPr>
          <a:xfrm>
            <a:off x="2896201" y="1869459"/>
            <a:ext cx="68435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Calibri" panose="020F0502020204030204"/>
              </a:rPr>
              <a:t>Group - 3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Dimpho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Mampuru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Rofhiwa Bulannga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Ongeziwe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Kolweni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ZA" sz="3200" dirty="0"/>
          </a:p>
          <a:p>
            <a:pPr algn="ctr"/>
            <a:r>
              <a:rPr lang="en-ZA" sz="3200" dirty="0"/>
              <a:t>Supervisor : Dr Rechelle Jacobs</a:t>
            </a:r>
          </a:p>
        </p:txBody>
      </p:sp>
    </p:spTree>
    <p:extLst>
      <p:ext uri="{BB962C8B-B14F-4D97-AF65-F5344CB8AC3E}">
        <p14:creationId xmlns:p14="http://schemas.microsoft.com/office/powerpoint/2010/main" val="276925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76"/>
    </mc:Choice>
    <mc:Fallback xmlns="">
      <p:transition spd="slow" advTm="543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152400" y="152400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algn="ctr"/>
            <a:r>
              <a:rPr lang="en-ZA" sz="4000" cap="small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B1584-F167-34AD-0693-7B30F4698FF0}"/>
              </a:ext>
            </a:extLst>
          </p:cNvPr>
          <p:cNvSpPr txBox="1"/>
          <p:nvPr/>
        </p:nvSpPr>
        <p:spPr>
          <a:xfrm>
            <a:off x="2716658" y="1292432"/>
            <a:ext cx="962774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800" dirty="0"/>
              <a:t>Introduction</a:t>
            </a:r>
          </a:p>
          <a:p>
            <a:pPr lvl="1"/>
            <a:r>
              <a:rPr lang="en-GB" sz="2800" dirty="0"/>
              <a:t>1.1 Problem statement</a:t>
            </a:r>
          </a:p>
          <a:p>
            <a:pPr lvl="1"/>
            <a:r>
              <a:rPr lang="en-GB" sz="2800" dirty="0"/>
              <a:t>1.2 Objectives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Research design &amp; methodology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Literature Review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 Data description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Data preparation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Data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Results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Limitations and recommendations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800" dirty="0"/>
              <a:t>Conclusion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018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152400" y="133739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algn="ctr"/>
            <a:r>
              <a:rPr lang="en-ZA" sz="4000" cap="small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6A3E426-C4E8-5FBE-3910-EE91321B2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36" y="1877292"/>
            <a:ext cx="10515600" cy="984000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latin typeface="+mn-lt"/>
              </a:rPr>
              <a:t>Aim: </a:t>
            </a:r>
            <a:r>
              <a:rPr lang="en-GB" sz="2900" dirty="0">
                <a:latin typeface="+mn-lt"/>
              </a:rPr>
              <a:t>Enhance marketing strategies in the banking sector using statistical methods.</a:t>
            </a:r>
            <a:br>
              <a:rPr lang="en-GB" sz="2800" dirty="0">
                <a:latin typeface="+mn-lt"/>
              </a:rPr>
            </a:br>
            <a:endParaRPr lang="en-ZA" sz="2800" dirty="0">
              <a:latin typeface="+mn-l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2DF84B-DB30-78DF-65AE-F2CC3AE24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3136067"/>
            <a:ext cx="5600700" cy="2822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3200" b="1" dirty="0"/>
              <a:t>Direct marketing challenges: </a:t>
            </a:r>
          </a:p>
          <a:p>
            <a:r>
              <a:rPr lang="en-GB" sz="2600" dirty="0"/>
              <a:t>Requires a lot of money and time .</a:t>
            </a:r>
          </a:p>
          <a:p>
            <a:r>
              <a:rPr lang="en-GB" sz="2600" dirty="0"/>
              <a:t>Exhausting to employees and reduces productivity.</a:t>
            </a:r>
          </a:p>
          <a:p>
            <a:endParaRPr lang="en-ZA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E6C0A9-B811-0EDA-C96F-55BB34AFB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0182" y="3136067"/>
            <a:ext cx="5181600" cy="30907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3200" b="1" dirty="0"/>
              <a:t>Solutions</a:t>
            </a:r>
            <a:r>
              <a:rPr lang="en-GB" sz="3200" dirty="0"/>
              <a:t>: </a:t>
            </a:r>
          </a:p>
          <a:p>
            <a:r>
              <a:rPr lang="en-GB" sz="2600" dirty="0"/>
              <a:t>Predict phone calls outcome or customer response more accurately.</a:t>
            </a:r>
          </a:p>
          <a:p>
            <a:r>
              <a:rPr lang="en-GB" sz="2600" dirty="0"/>
              <a:t>Improve marketing effectiveness for customers more likely to uptake the long-term deposit.</a:t>
            </a:r>
          </a:p>
          <a:p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77F97-9028-2CF9-03FF-88A293837A06}"/>
              </a:ext>
            </a:extLst>
          </p:cNvPr>
          <p:cNvSpPr txBox="1"/>
          <p:nvPr/>
        </p:nvSpPr>
        <p:spPr>
          <a:xfrm>
            <a:off x="3886200" y="1125552"/>
            <a:ext cx="55279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Problem statement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4601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4321"/>
    </mc:Choice>
    <mc:Fallback xmlns="">
      <p:transition advTm="15432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152400" y="133739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algn="ctr"/>
            <a:r>
              <a:rPr lang="en-ZA" sz="4000" cap="small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B1584-F167-34AD-0693-7B30F4698FF0}"/>
              </a:ext>
            </a:extLst>
          </p:cNvPr>
          <p:cNvSpPr txBox="1"/>
          <p:nvPr/>
        </p:nvSpPr>
        <p:spPr>
          <a:xfrm>
            <a:off x="3604" y="896063"/>
            <a:ext cx="1048255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800" b="1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85A4C2-4AF2-00A7-39E2-CDA5B81D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73" y="1125425"/>
            <a:ext cx="2445327" cy="707886"/>
          </a:xfrm>
        </p:spPr>
        <p:txBody>
          <a:bodyPr>
            <a:normAutofit/>
          </a:bodyPr>
          <a:lstStyle/>
          <a:p>
            <a:r>
              <a:rPr lang="en-ZA" sz="3200" b="1" dirty="0">
                <a:latin typeface="+mn-lt"/>
              </a:rPr>
              <a:t>Objectives</a:t>
            </a:r>
          </a:p>
        </p:txBody>
      </p:sp>
      <p:graphicFrame>
        <p:nvGraphicFramePr>
          <p:cNvPr id="42" name="Content Placeholder 3">
            <a:extLst>
              <a:ext uri="{FF2B5EF4-FFF2-40B4-BE49-F238E27FC236}">
                <a16:creationId xmlns:a16="http://schemas.microsoft.com/office/drawing/2014/main" id="{4387244F-8AD8-A296-3533-BC97E26CB4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4923020"/>
              </p:ext>
            </p:extLst>
          </p:nvPr>
        </p:nvGraphicFramePr>
        <p:xfrm>
          <a:off x="167054" y="1838633"/>
          <a:ext cx="11857892" cy="4679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5199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152400" y="133739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algn="ctr"/>
            <a:r>
              <a:rPr lang="en-ZA" sz="4000" cap="small" dirty="0">
                <a:solidFill>
                  <a:schemeClr val="bg1"/>
                </a:solidFill>
              </a:rPr>
              <a:t>Research design and Methodology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AD5742-8C0F-1862-AE9C-3FB8F02ADEDF}"/>
              </a:ext>
            </a:extLst>
          </p:cNvPr>
          <p:cNvGrpSpPr/>
          <p:nvPr/>
        </p:nvGrpSpPr>
        <p:grpSpPr>
          <a:xfrm>
            <a:off x="0" y="688606"/>
            <a:ext cx="11887199" cy="6831462"/>
            <a:chOff x="0" y="785588"/>
            <a:chExt cx="11250738" cy="6831462"/>
          </a:xfrm>
        </p:grpSpPr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00DBE074-8B71-4DCB-B67F-32132ACAC2A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40248886"/>
                </p:ext>
              </p:extLst>
            </p:nvPr>
          </p:nvGraphicFramePr>
          <p:xfrm>
            <a:off x="0" y="785588"/>
            <a:ext cx="9045731" cy="305799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E509D428-80BE-ACB9-30F9-2F8D659F3C8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50872448"/>
                </p:ext>
              </p:extLst>
            </p:nvPr>
          </p:nvGraphicFramePr>
          <p:xfrm>
            <a:off x="175680" y="2770909"/>
            <a:ext cx="8694370" cy="484614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5" name="Arrow: U-Turn 4">
              <a:extLst>
                <a:ext uri="{FF2B5EF4-FFF2-40B4-BE49-F238E27FC236}">
                  <a16:creationId xmlns:a16="http://schemas.microsoft.com/office/drawing/2014/main" id="{415092DB-EBDC-0F94-54A7-38F95092EE79}"/>
                </a:ext>
              </a:extLst>
            </p:cNvPr>
            <p:cNvSpPr/>
            <p:nvPr/>
          </p:nvSpPr>
          <p:spPr>
            <a:xfrm rot="5400000">
              <a:off x="8511186" y="2857683"/>
              <a:ext cx="3449778" cy="2029327"/>
            </a:xfrm>
            <a:prstGeom prst="uturnArrow">
              <a:avLst>
                <a:gd name="adj1" fmla="val 14941"/>
                <a:gd name="adj2" fmla="val 14641"/>
                <a:gd name="adj3" fmla="val 22018"/>
                <a:gd name="adj4" fmla="val 40210"/>
                <a:gd name="adj5" fmla="val 9905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182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967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152400" y="133739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algn="ctr"/>
            <a:r>
              <a:rPr lang="en-ZA" sz="4000" cap="small" dirty="0">
                <a:solidFill>
                  <a:schemeClr val="bg1"/>
                </a:solidFill>
              </a:rPr>
              <a:t>Literature Review</a:t>
            </a:r>
          </a:p>
        </p:txBody>
      </p:sp>
      <p:graphicFrame>
        <p:nvGraphicFramePr>
          <p:cNvPr id="42" name="TextBox 1">
            <a:extLst>
              <a:ext uri="{FF2B5EF4-FFF2-40B4-BE49-F238E27FC236}">
                <a16:creationId xmlns:a16="http://schemas.microsoft.com/office/drawing/2014/main" id="{9371F6AE-6E1D-EF5C-3668-1652B575C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995042"/>
              </p:ext>
            </p:extLst>
          </p:nvPr>
        </p:nvGraphicFramePr>
        <p:xfrm>
          <a:off x="316523" y="841626"/>
          <a:ext cx="10937362" cy="4539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157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0" y="27057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algn="ctr"/>
            <a:r>
              <a:rPr lang="en-ZA" sz="4000" cap="small" dirty="0">
                <a:solidFill>
                  <a:schemeClr val="bg1"/>
                </a:solidFill>
              </a:rPr>
              <a:t>Data description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59B24F-4CD3-7EBE-EE28-A62A817E9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159482"/>
              </p:ext>
            </p:extLst>
          </p:nvPr>
        </p:nvGraphicFramePr>
        <p:xfrm>
          <a:off x="1231321" y="2899023"/>
          <a:ext cx="9102437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0290">
                  <a:extLst>
                    <a:ext uri="{9D8B030D-6E8A-4147-A177-3AD203B41FA5}">
                      <a16:colId xmlns:a16="http://schemas.microsoft.com/office/drawing/2014/main" val="4221762538"/>
                    </a:ext>
                  </a:extLst>
                </a:gridCol>
                <a:gridCol w="1464923">
                  <a:extLst>
                    <a:ext uri="{9D8B030D-6E8A-4147-A177-3AD203B41FA5}">
                      <a16:colId xmlns:a16="http://schemas.microsoft.com/office/drawing/2014/main" val="2862098096"/>
                    </a:ext>
                  </a:extLst>
                </a:gridCol>
                <a:gridCol w="1521813">
                  <a:extLst>
                    <a:ext uri="{9D8B030D-6E8A-4147-A177-3AD203B41FA5}">
                      <a16:colId xmlns:a16="http://schemas.microsoft.com/office/drawing/2014/main" val="3394082789"/>
                    </a:ext>
                  </a:extLst>
                </a:gridCol>
                <a:gridCol w="1777820">
                  <a:extLst>
                    <a:ext uri="{9D8B030D-6E8A-4147-A177-3AD203B41FA5}">
                      <a16:colId xmlns:a16="http://schemas.microsoft.com/office/drawing/2014/main" val="1763838931"/>
                    </a:ext>
                  </a:extLst>
                </a:gridCol>
                <a:gridCol w="1507591">
                  <a:extLst>
                    <a:ext uri="{9D8B030D-6E8A-4147-A177-3AD203B41FA5}">
                      <a16:colId xmlns:a16="http://schemas.microsoft.com/office/drawing/2014/main" val="3566629976"/>
                    </a:ext>
                  </a:extLst>
                </a:gridCol>
              </a:tblGrid>
              <a:tr h="417437">
                <a:tc gridSpan="5"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Summary Statistics</a:t>
                      </a:r>
                      <a:endParaRPr lang="en-ZA" sz="2400" b="1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405421"/>
                  </a:ext>
                </a:extLst>
              </a:tr>
              <a:tr h="417437">
                <a:tc>
                  <a:txBody>
                    <a:bodyPr/>
                    <a:lstStyle/>
                    <a:p>
                      <a:pPr algn="ctr"/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Mean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Median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Min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Max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623097"/>
                  </a:ext>
                </a:extLst>
              </a:tr>
              <a:tr h="417437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Customer age 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41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39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18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95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129937"/>
                  </a:ext>
                </a:extLst>
              </a:tr>
              <a:tr h="417437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Account balance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1362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448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-8.02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102.13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341960"/>
                  </a:ext>
                </a:extLst>
              </a:tr>
              <a:tr h="417437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Overdraft limit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67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0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0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/>
                        <a:t>10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789468"/>
                  </a:ext>
                </a:extLst>
              </a:tr>
              <a:tr h="738662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Contact attempts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/>
                        <a:t>2.76</a:t>
                      </a:r>
                      <a:endParaRPr lang="en-ZA" sz="2400" b="1" dirty="0"/>
                    </a:p>
                    <a:p>
                      <a:pPr algn="ctr"/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/>
                        <a:t>1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63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91695"/>
                  </a:ext>
                </a:extLst>
              </a:tr>
              <a:tr h="738662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Days since previous campaign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41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0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0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871</a:t>
                      </a:r>
                      <a:endParaRPr lang="en-ZA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89639"/>
                  </a:ext>
                </a:extLst>
              </a:tr>
            </a:tbl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4B387E2-F315-721D-F726-3E6E9FB158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0761240"/>
              </p:ext>
            </p:extLst>
          </p:nvPr>
        </p:nvGraphicFramePr>
        <p:xfrm>
          <a:off x="74470" y="874793"/>
          <a:ext cx="10886209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53F5EC-B526-25FD-2E3A-C04880483EC5}"/>
              </a:ext>
            </a:extLst>
          </p:cNvPr>
          <p:cNvSpPr txBox="1"/>
          <p:nvPr/>
        </p:nvSpPr>
        <p:spPr>
          <a:xfrm>
            <a:off x="465859" y="707748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b="1" dirty="0"/>
              <a:t>Data</a:t>
            </a:r>
            <a:r>
              <a:rPr lang="en-ZA" sz="2400" b="1" dirty="0"/>
              <a:t> </a:t>
            </a:r>
            <a:r>
              <a:rPr lang="en-ZA" sz="2800" b="1" dirty="0"/>
              <a:t>dimension</a:t>
            </a:r>
            <a:r>
              <a:rPr lang="en-ZA" sz="32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1131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0" y="27057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algn="ctr"/>
            <a:r>
              <a:rPr lang="en-ZA" sz="4000" cap="small" dirty="0">
                <a:solidFill>
                  <a:schemeClr val="bg1"/>
                </a:solidFill>
              </a:rPr>
              <a:t>Data preparation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004301B-04D5-1D97-D4EE-0F50C7F2C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0" r="4" b="1738"/>
          <a:stretch/>
        </p:blipFill>
        <p:spPr bwMode="auto">
          <a:xfrm>
            <a:off x="4143305" y="1766456"/>
            <a:ext cx="3905390" cy="394161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F197256-74D4-192D-C80B-C079CC9005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7"/>
          <a:stretch/>
        </p:blipFill>
        <p:spPr bwMode="auto">
          <a:xfrm>
            <a:off x="75334" y="1766456"/>
            <a:ext cx="3905390" cy="394161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B8586931-E894-E7D8-89C9-C72F0EE9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79" y="1287170"/>
            <a:ext cx="9525000" cy="707886"/>
          </a:xfrm>
        </p:spPr>
        <p:txBody>
          <a:bodyPr>
            <a:normAutofit fontScale="90000"/>
          </a:bodyPr>
          <a:lstStyle/>
          <a:p>
            <a:r>
              <a:rPr lang="en-GB" sz="2800" b="1" dirty="0">
                <a:latin typeface="+mn-lt"/>
              </a:rPr>
              <a:t>Class distribution: Before and after data balancing</a:t>
            </a:r>
            <a:br>
              <a:rPr lang="en-GB" sz="2800" b="1" dirty="0">
                <a:latin typeface="+mn-lt"/>
              </a:rPr>
            </a:br>
            <a:r>
              <a:rPr lang="en-GB" sz="2400" dirty="0">
                <a:latin typeface="+mn-lt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43A45-0F22-968F-438F-89F96DFC26D7}"/>
              </a:ext>
            </a:extLst>
          </p:cNvPr>
          <p:cNvSpPr txBox="1"/>
          <p:nvPr/>
        </p:nvSpPr>
        <p:spPr>
          <a:xfrm>
            <a:off x="8128719" y="1766456"/>
            <a:ext cx="398794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b="1" dirty="0"/>
              <a:t>Technique used</a:t>
            </a:r>
            <a:r>
              <a:rPr lang="en-ZA" sz="2400" dirty="0"/>
              <a:t>: Synthetic minority oversampling technique. (</a:t>
            </a:r>
            <a:r>
              <a:rPr lang="en-ZA" sz="2400" dirty="0" err="1">
                <a:hlinkClick r:id="rId6"/>
              </a:rPr>
              <a:t>Burnaev</a:t>
            </a:r>
            <a:r>
              <a:rPr lang="en-ZA" sz="2400" dirty="0">
                <a:hlinkClick r:id="rId6"/>
              </a:rPr>
              <a:t> et al., 2015</a:t>
            </a:r>
            <a:r>
              <a:rPr lang="en-ZA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b="1" dirty="0"/>
              <a:t>On which data?</a:t>
            </a:r>
          </a:p>
          <a:p>
            <a:r>
              <a:rPr lang="en-ZA" sz="2400" dirty="0"/>
              <a:t>The clean data consisting of </a:t>
            </a:r>
          </a:p>
          <a:p>
            <a:r>
              <a:rPr lang="en-ZA" sz="2400" dirty="0"/>
              <a:t>45211 entries and 34 variables (after encoding).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b="1" dirty="0"/>
              <a:t>Resulting data dimension: </a:t>
            </a:r>
            <a:r>
              <a:rPr lang="en-ZA" sz="2400" dirty="0"/>
              <a:t>              79844 entries and 34 variables , where each class consists of 39922 entries.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9446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0" y="27057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algn="ctr"/>
            <a:r>
              <a:rPr lang="en-ZA" sz="4000" cap="small" dirty="0">
                <a:solidFill>
                  <a:schemeClr val="bg1"/>
                </a:solidFill>
              </a:rPr>
              <a:t>Data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DCC36-E05C-8C1C-B6E8-3A294633D9A0}"/>
              </a:ext>
            </a:extLst>
          </p:cNvPr>
          <p:cNvSpPr txBox="1"/>
          <p:nvPr/>
        </p:nvSpPr>
        <p:spPr>
          <a:xfrm>
            <a:off x="8137103" y="1176563"/>
            <a:ext cx="4033248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Binning continuous predictors has been shown to be effective in preparing for binary classification (</a:t>
            </a:r>
            <a:r>
              <a:rPr lang="en-GB" sz="2200" dirty="0">
                <a:hlinkClick r:id="rId4"/>
              </a:rPr>
              <a:t>Lund, 2016</a:t>
            </a:r>
            <a:r>
              <a:rPr lang="en-GB" sz="22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Age group cut-offs align with research goals, such as understanding life stage impacts on deposit take-up.</a:t>
            </a:r>
            <a:endParaRPr lang="en-ZA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200" dirty="0"/>
              <a:t>Across  all age groups , people do not have a positive response to the deposit take-up offer.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200" dirty="0"/>
              <a:t>Most customers are between 18 to 60 (before retirement).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200" dirty="0"/>
              <a:t>Ages 18-40 have the highest deposit take-ups.</a:t>
            </a:r>
          </a:p>
          <a:p>
            <a:endParaRPr lang="en-ZA" sz="2000" dirty="0"/>
          </a:p>
          <a:p>
            <a:endParaRPr lang="en-Z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37C6FB-75C4-DD51-AAB8-C2CD508B96C2}"/>
              </a:ext>
            </a:extLst>
          </p:cNvPr>
          <p:cNvSpPr/>
          <p:nvPr/>
        </p:nvSpPr>
        <p:spPr>
          <a:xfrm>
            <a:off x="6021654" y="4158051"/>
            <a:ext cx="148692" cy="234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6E2497-4C10-2B59-87F4-372387E1AE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2401" y="980535"/>
            <a:ext cx="7984702" cy="454742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0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0" y="27057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algn="ctr"/>
            <a:r>
              <a:rPr lang="en-ZA" sz="4000" cap="small" dirty="0">
                <a:solidFill>
                  <a:schemeClr val="bg1"/>
                </a:solidFill>
              </a:rPr>
              <a:t>Data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37C6FB-75C4-DD51-AAB8-C2CD508B96C2}"/>
              </a:ext>
            </a:extLst>
          </p:cNvPr>
          <p:cNvSpPr/>
          <p:nvPr/>
        </p:nvSpPr>
        <p:spPr>
          <a:xfrm>
            <a:off x="6021654" y="4158051"/>
            <a:ext cx="148692" cy="234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DF9D8FF-A583-F9B5-8C8A-3FD6FF81B3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2400" y="1162854"/>
            <a:ext cx="8742218" cy="523794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A6FAAB-1ACF-0FC4-D03D-EA3EB6A08DBD}"/>
              </a:ext>
            </a:extLst>
          </p:cNvPr>
          <p:cNvSpPr txBox="1"/>
          <p:nvPr/>
        </p:nvSpPr>
        <p:spPr>
          <a:xfrm>
            <a:off x="9047018" y="2274838"/>
            <a:ext cx="31449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b="1" dirty="0"/>
              <a:t>Interesting insights:</a:t>
            </a:r>
          </a:p>
          <a:p>
            <a:r>
              <a:rPr lang="en-ZA" sz="2400" dirty="0"/>
              <a:t>Most customers are married, have obtained only secondary education and are contacted in May.</a:t>
            </a:r>
          </a:p>
        </p:txBody>
      </p:sp>
    </p:spTree>
    <p:extLst>
      <p:ext uri="{BB962C8B-B14F-4D97-AF65-F5344CB8AC3E}">
        <p14:creationId xmlns:p14="http://schemas.microsoft.com/office/powerpoint/2010/main" val="29043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152400" y="152400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0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Statistical Analysis and results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94449702"/>
              </p:ext>
            </p:extLst>
          </p:nvPr>
        </p:nvGraphicFramePr>
        <p:xfrm>
          <a:off x="616526" y="1241876"/>
          <a:ext cx="11374583" cy="561612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78204">
                  <a:extLst>
                    <a:ext uri="{9D8B030D-6E8A-4147-A177-3AD203B41FA5}">
                      <a16:colId xmlns:a16="http://schemas.microsoft.com/office/drawing/2014/main" val="693131148"/>
                    </a:ext>
                  </a:extLst>
                </a:gridCol>
                <a:gridCol w="1474751">
                  <a:extLst>
                    <a:ext uri="{9D8B030D-6E8A-4147-A177-3AD203B41FA5}">
                      <a16:colId xmlns:a16="http://schemas.microsoft.com/office/drawing/2014/main" val="2283404045"/>
                    </a:ext>
                  </a:extLst>
                </a:gridCol>
                <a:gridCol w="133978">
                  <a:extLst>
                    <a:ext uri="{9D8B030D-6E8A-4147-A177-3AD203B41FA5}">
                      <a16:colId xmlns:a16="http://schemas.microsoft.com/office/drawing/2014/main" val="1556034837"/>
                    </a:ext>
                  </a:extLst>
                </a:gridCol>
                <a:gridCol w="1331275">
                  <a:extLst>
                    <a:ext uri="{9D8B030D-6E8A-4147-A177-3AD203B41FA5}">
                      <a16:colId xmlns:a16="http://schemas.microsoft.com/office/drawing/2014/main" val="599000011"/>
                    </a:ext>
                  </a:extLst>
                </a:gridCol>
                <a:gridCol w="1331275">
                  <a:extLst>
                    <a:ext uri="{9D8B030D-6E8A-4147-A177-3AD203B41FA5}">
                      <a16:colId xmlns:a16="http://schemas.microsoft.com/office/drawing/2014/main" val="1637545648"/>
                    </a:ext>
                  </a:extLst>
                </a:gridCol>
                <a:gridCol w="1331275">
                  <a:extLst>
                    <a:ext uri="{9D8B030D-6E8A-4147-A177-3AD203B41FA5}">
                      <a16:colId xmlns:a16="http://schemas.microsoft.com/office/drawing/2014/main" val="4044900703"/>
                    </a:ext>
                  </a:extLst>
                </a:gridCol>
                <a:gridCol w="1331275">
                  <a:extLst>
                    <a:ext uri="{9D8B030D-6E8A-4147-A177-3AD203B41FA5}">
                      <a16:colId xmlns:a16="http://schemas.microsoft.com/office/drawing/2014/main" val="3738047440"/>
                    </a:ext>
                  </a:extLst>
                </a:gridCol>
                <a:gridCol w="1331275">
                  <a:extLst>
                    <a:ext uri="{9D8B030D-6E8A-4147-A177-3AD203B41FA5}">
                      <a16:colId xmlns:a16="http://schemas.microsoft.com/office/drawing/2014/main" val="3801982920"/>
                    </a:ext>
                  </a:extLst>
                </a:gridCol>
                <a:gridCol w="1331275">
                  <a:extLst>
                    <a:ext uri="{9D8B030D-6E8A-4147-A177-3AD203B41FA5}">
                      <a16:colId xmlns:a16="http://schemas.microsoft.com/office/drawing/2014/main" val="2445579195"/>
                    </a:ext>
                  </a:extLst>
                </a:gridCol>
              </a:tblGrid>
              <a:tr h="521225">
                <a:tc gridSpan="5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solidFill>
                            <a:schemeClr val="tx1"/>
                          </a:solidFill>
                          <a:latin typeface="+mn-lt"/>
                        </a:rPr>
                        <a:t>Logistic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solidFill>
                            <a:schemeClr val="tx1"/>
                          </a:solidFill>
                          <a:latin typeface="+mn-lt"/>
                        </a:rPr>
                        <a:t>Decision</a:t>
                      </a:r>
                      <a:r>
                        <a:rPr lang="en-ZA" sz="24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Tree</a:t>
                      </a:r>
                      <a:endParaRPr lang="en-ZA" sz="2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ZA" sz="12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23360"/>
                  </a:ext>
                </a:extLst>
              </a:tr>
              <a:tr h="521225"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Overall 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82%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1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Overall Accuracy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79%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763556"/>
                  </a:ext>
                </a:extLst>
              </a:tr>
              <a:tr h="790217"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CV Training 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82%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1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CV Training Accuracy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79%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527802"/>
                  </a:ext>
                </a:extLst>
              </a:tr>
              <a:tr h="521225"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CV Test 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82%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1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CV Test Accuracy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79%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426589"/>
                  </a:ext>
                </a:extLst>
              </a:tr>
              <a:tr h="521225"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ROC AUC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ZA" sz="11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ROC AUC score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0.83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281740"/>
                  </a:ext>
                </a:extLst>
              </a:tr>
              <a:tr h="521225">
                <a:tc gridSpan="5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Classification Report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Classification</a:t>
                      </a:r>
                      <a:r>
                        <a:rPr lang="en-ZA" sz="2400" b="1" baseline="0" dirty="0">
                          <a:latin typeface="+mn-lt"/>
                        </a:rPr>
                        <a:t> Report</a:t>
                      </a:r>
                      <a:endParaRPr lang="en-ZA" sz="2400" b="1" dirty="0"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ZA" sz="11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32738"/>
                  </a:ext>
                </a:extLst>
              </a:tr>
              <a:tr h="521225">
                <a:tc gridSpan="3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Class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Class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Class 0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latin typeface="+mn-lt"/>
                        </a:rPr>
                        <a:t>Class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560157"/>
                  </a:ext>
                </a:extLst>
              </a:tr>
              <a:tr h="832907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+mn-lt"/>
                        </a:rPr>
                        <a:t>Precision </a:t>
                      </a:r>
                      <a:endParaRPr lang="en-ZA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+mn-lt"/>
                        </a:rPr>
                        <a:t>Recall </a:t>
                      </a:r>
                      <a:endParaRPr lang="en-ZA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+mn-lt"/>
                        </a:rPr>
                        <a:t>Precision</a:t>
                      </a:r>
                      <a:endParaRPr lang="en-ZA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+mn-lt"/>
                        </a:rPr>
                        <a:t>Recall</a:t>
                      </a:r>
                      <a:endParaRPr lang="en-ZA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+mn-lt"/>
                        </a:rPr>
                        <a:t>Precision</a:t>
                      </a:r>
                      <a:endParaRPr lang="en-ZA" sz="2400" dirty="0"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+mn-lt"/>
                        </a:rPr>
                        <a:t>Recall</a:t>
                      </a:r>
                      <a:endParaRPr lang="en-ZA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+mn-lt"/>
                        </a:rPr>
                        <a:t>Precision</a:t>
                      </a:r>
                      <a:endParaRPr lang="en-ZA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+mn-lt"/>
                        </a:rPr>
                        <a:t>Recall</a:t>
                      </a:r>
                      <a:endParaRPr lang="en-ZA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225020"/>
                  </a:ext>
                </a:extLst>
              </a:tr>
              <a:tr h="832907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+mn-lt"/>
                        </a:rPr>
                        <a:t>81%</a:t>
                      </a:r>
                      <a:endParaRPr lang="en-ZA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ZA" sz="2400" dirty="0">
                          <a:latin typeface="+mn-lt"/>
                        </a:rPr>
                        <a:t>84%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>
                          <a:latin typeface="+mn-lt"/>
                        </a:rPr>
                        <a:t>83%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>
                          <a:latin typeface="+mn-lt"/>
                        </a:rPr>
                        <a:t>80%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>
                          <a:latin typeface="+mn-lt"/>
                        </a:rPr>
                        <a:t>85%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>
                          <a:latin typeface="+mn-lt"/>
                        </a:rPr>
                        <a:t>69%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>
                          <a:latin typeface="+mn-lt"/>
                        </a:rPr>
                        <a:t>74%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dirty="0">
                          <a:latin typeface="+mn-lt"/>
                        </a:rPr>
                        <a:t>88%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094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15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152400" y="27057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0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Comparison</a:t>
            </a:r>
          </a:p>
        </p:txBody>
      </p:sp>
      <p:graphicFrame>
        <p:nvGraphicFramePr>
          <p:cNvPr id="42" name="Content Placeholder 2">
            <a:extLst>
              <a:ext uri="{FF2B5EF4-FFF2-40B4-BE49-F238E27FC236}">
                <a16:creationId xmlns:a16="http://schemas.microsoft.com/office/drawing/2014/main" id="{3D14FFD1-64E2-2C8D-032C-DCE5F0FE1B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9560731"/>
              </p:ext>
            </p:extLst>
          </p:nvPr>
        </p:nvGraphicFramePr>
        <p:xfrm>
          <a:off x="0" y="381000"/>
          <a:ext cx="12192000" cy="488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817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152400" y="-32922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000" b="0" i="0" u="none" strike="noStrike" kern="1200" cap="sm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Limitations and Recommendations</a:t>
            </a:r>
            <a:endParaRPr kumimoji="0" lang="en-ZA" sz="4000" b="0" i="0" u="none" strike="noStrike" kern="1200" cap="sm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37DEEA-0187-4151-BEF8-6363B4413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355" y="1324946"/>
            <a:ext cx="8351003" cy="4217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b="1" dirty="0"/>
              <a:t>Limitations</a:t>
            </a:r>
          </a:p>
          <a:p>
            <a:pPr>
              <a:lnSpc>
                <a:spcPct val="100000"/>
              </a:lnSpc>
            </a:pPr>
            <a:r>
              <a:rPr lang="en-ZA" sz="2400" dirty="0"/>
              <a:t>An uneven distribution of observations in the target variable </a:t>
            </a:r>
          </a:p>
          <a:p>
            <a:r>
              <a:rPr lang="en-ZA" sz="2400" dirty="0"/>
              <a:t>Only two models compared</a:t>
            </a:r>
          </a:p>
          <a:p>
            <a:endParaRPr lang="en-ZA" sz="2000" b="1" dirty="0"/>
          </a:p>
          <a:p>
            <a:pPr marL="0" indent="0">
              <a:buNone/>
            </a:pPr>
            <a:r>
              <a:rPr lang="en-ZA" b="1" dirty="0"/>
              <a:t>Recommendations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ZA" dirty="0"/>
              <a:t>Optimize contact timing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ZA" dirty="0"/>
              <a:t>Continuous monitoring and updating of models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ZA" dirty="0"/>
              <a:t>Balance model complexity and interpretability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ZA" dirty="0"/>
              <a:t>Data privacy and security enhancements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298379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>
            <a:extLst>
              <a:ext uri="{FF2B5EF4-FFF2-40B4-BE49-F238E27FC236}">
                <a16:creationId xmlns:a16="http://schemas.microsoft.com/office/drawing/2014/main" id="{82FCC117-011A-4887-831B-C3C38331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DDAB1-E2A8-4AA6-BFBE-32FA60DC54D6}"/>
              </a:ext>
            </a:extLst>
          </p:cNvPr>
          <p:cNvSpPr txBox="1"/>
          <p:nvPr/>
        </p:nvSpPr>
        <p:spPr>
          <a:xfrm>
            <a:off x="152400" y="27057"/>
            <a:ext cx="10333758" cy="707886"/>
          </a:xfrm>
          <a:prstGeom prst="rect">
            <a:avLst/>
          </a:prstGeom>
          <a:solidFill>
            <a:srgbClr val="142864"/>
          </a:solidFill>
          <a:ln w="25400">
            <a:solidFill>
              <a:srgbClr val="142864"/>
            </a:solidFill>
          </a:ln>
        </p:spPr>
        <p:txBody>
          <a:bodyPr vert="horz"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0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</a:t>
            </a:r>
          </a:p>
        </p:txBody>
      </p:sp>
      <p:graphicFrame>
        <p:nvGraphicFramePr>
          <p:cNvPr id="2" name="TextBox 1">
            <a:extLst>
              <a:ext uri="{FF2B5EF4-FFF2-40B4-BE49-F238E27FC236}">
                <a16:creationId xmlns:a16="http://schemas.microsoft.com/office/drawing/2014/main" id="{C7587ED3-44CE-9F17-7E26-CD81E1D5DB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3977538"/>
              </p:ext>
            </p:extLst>
          </p:nvPr>
        </p:nvGraphicFramePr>
        <p:xfrm>
          <a:off x="316523" y="841625"/>
          <a:ext cx="10937362" cy="5439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8364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21"/>
    </mc:Choice>
    <mc:Fallback xmlns="">
      <p:transition spd="slow" advTm="15432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0A956C-BA5A-4449-A8D2-DBBF068AC23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5" t="4802" r="4251" b="4173"/>
          <a:stretch/>
        </p:blipFill>
        <p:spPr>
          <a:xfrm>
            <a:off x="10673405" y="4941115"/>
            <a:ext cx="1238962" cy="14324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C6BF18-60EF-4224-B8C3-FFD2B0178B09}"/>
              </a:ext>
            </a:extLst>
          </p:cNvPr>
          <p:cNvSpPr txBox="1"/>
          <p:nvPr/>
        </p:nvSpPr>
        <p:spPr>
          <a:xfrm flipH="1">
            <a:off x="1541335" y="2197991"/>
            <a:ext cx="10409944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</a:rPr>
              <a:t>Questions?</a:t>
            </a:r>
            <a:endParaRPr lang="en-ZA" sz="2800" dirty="0">
              <a:solidFill>
                <a:schemeClr val="bg1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9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81"/>
    </mc:Choice>
    <mc:Fallback xmlns="">
      <p:transition spd="slow" advTm="20681"/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6943</TotalTime>
  <Words>841</Words>
  <Application>Microsoft Office PowerPoint</Application>
  <PresentationFormat>Widescreen</PresentationFormat>
  <Paragraphs>181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Wingdings</vt:lpstr>
      <vt:lpstr>Custom Design</vt:lpstr>
      <vt:lpstr>Office Theme</vt:lpstr>
      <vt:lpstr>1_Office Theme</vt:lpstr>
      <vt:lpstr>PowerPoint Presentation</vt:lpstr>
      <vt:lpstr>PowerPoint Presentation</vt:lpstr>
      <vt:lpstr>Aim: Enhance marketing strategies in the banking sector using statistical methods. </vt:lpstr>
      <vt:lpstr>Objectives</vt:lpstr>
      <vt:lpstr>PowerPoint Presentation</vt:lpstr>
      <vt:lpstr>PowerPoint Presentation</vt:lpstr>
      <vt:lpstr>PowerPoint Presentation</vt:lpstr>
      <vt:lpstr>Class distribution: Before and after data balancing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 Keddie</dc:creator>
  <cp:lastModifiedBy>Teboho Luckyboy</cp:lastModifiedBy>
  <cp:revision>402</cp:revision>
  <dcterms:created xsi:type="dcterms:W3CDTF">2018-06-10T09:01:15Z</dcterms:created>
  <dcterms:modified xsi:type="dcterms:W3CDTF">2024-09-30T19:42:04Z</dcterms:modified>
</cp:coreProperties>
</file>